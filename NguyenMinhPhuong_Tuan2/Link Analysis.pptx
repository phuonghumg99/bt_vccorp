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256" r:id="rId5"/>
    <p:sldId id="276" r:id="rId6"/>
    <p:sldId id="277" r:id="rId7"/>
    <p:sldId id="289" r:id="rId8"/>
    <p:sldId id="290" r:id="rId9"/>
    <p:sldId id="291" r:id="rId10"/>
    <p:sldId id="292" r:id="rId11"/>
    <p:sldId id="293" r:id="rId12"/>
    <p:sldId id="294" r:id="rId13"/>
    <p:sldId id="295" r:id="rId14"/>
    <p:sldId id="296" r:id="rId15"/>
    <p:sldId id="298" r:id="rId16"/>
    <p:sldId id="297"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52" autoAdjust="0"/>
  </p:normalViewPr>
  <p:slideViewPr>
    <p:cSldViewPr snapToGrid="0" showGuides="1">
      <p:cViewPr varScale="1">
        <p:scale>
          <a:sx n="69" d="100"/>
          <a:sy n="69" d="100"/>
        </p:scale>
        <p:origin x="780" y="60"/>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4/7/2022</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4/7/2022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3418327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209578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696232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2675006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3395088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3768474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1359787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11</a:t>
            </a:fld>
            <a:endParaRPr lang="en-US" dirty="0"/>
          </a:p>
        </p:txBody>
      </p:sp>
    </p:spTree>
    <p:extLst>
      <p:ext uri="{BB962C8B-B14F-4D97-AF65-F5344CB8AC3E}">
        <p14:creationId xmlns:p14="http://schemas.microsoft.com/office/powerpoint/2010/main" val="1994081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12</a:t>
            </a:fld>
            <a:endParaRPr lang="en-US" dirty="0"/>
          </a:p>
        </p:txBody>
      </p:sp>
    </p:spTree>
    <p:extLst>
      <p:ext uri="{BB962C8B-B14F-4D97-AF65-F5344CB8AC3E}">
        <p14:creationId xmlns:p14="http://schemas.microsoft.com/office/powerpoint/2010/main" val="1066821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13</a:t>
            </a:fld>
            <a:endParaRPr lang="en-US" dirty="0"/>
          </a:p>
        </p:txBody>
      </p:sp>
    </p:spTree>
    <p:extLst>
      <p:ext uri="{BB962C8B-B14F-4D97-AF65-F5344CB8AC3E}">
        <p14:creationId xmlns:p14="http://schemas.microsoft.com/office/powerpoint/2010/main" val="4212776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14</a:t>
            </a:fld>
            <a:endParaRPr lang="en-US" dirty="0"/>
          </a:p>
        </p:txBody>
      </p:sp>
    </p:spTree>
    <p:extLst>
      <p:ext uri="{BB962C8B-B14F-4D97-AF65-F5344CB8AC3E}">
        <p14:creationId xmlns:p14="http://schemas.microsoft.com/office/powerpoint/2010/main" val="1312870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15</a:t>
            </a:fld>
            <a:endParaRPr lang="en-US" dirty="0"/>
          </a:p>
        </p:txBody>
      </p:sp>
    </p:spTree>
    <p:extLst>
      <p:ext uri="{BB962C8B-B14F-4D97-AF65-F5344CB8AC3E}">
        <p14:creationId xmlns:p14="http://schemas.microsoft.com/office/powerpoint/2010/main" val="1700727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16</a:t>
            </a:fld>
            <a:endParaRPr lang="en-US" dirty="0"/>
          </a:p>
        </p:txBody>
      </p:sp>
    </p:spTree>
    <p:extLst>
      <p:ext uri="{BB962C8B-B14F-4D97-AF65-F5344CB8AC3E}">
        <p14:creationId xmlns:p14="http://schemas.microsoft.com/office/powerpoint/2010/main" val="861397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17</a:t>
            </a:fld>
            <a:endParaRPr lang="en-US" dirty="0"/>
          </a:p>
        </p:txBody>
      </p:sp>
    </p:spTree>
    <p:extLst>
      <p:ext uri="{BB962C8B-B14F-4D97-AF65-F5344CB8AC3E}">
        <p14:creationId xmlns:p14="http://schemas.microsoft.com/office/powerpoint/2010/main" val="1887057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18</a:t>
            </a:fld>
            <a:endParaRPr lang="en-US" dirty="0"/>
          </a:p>
        </p:txBody>
      </p:sp>
    </p:spTree>
    <p:extLst>
      <p:ext uri="{BB962C8B-B14F-4D97-AF65-F5344CB8AC3E}">
        <p14:creationId xmlns:p14="http://schemas.microsoft.com/office/powerpoint/2010/main" val="3243768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19</a:t>
            </a:fld>
            <a:endParaRPr lang="en-US" dirty="0"/>
          </a:p>
        </p:txBody>
      </p:sp>
    </p:spTree>
    <p:extLst>
      <p:ext uri="{BB962C8B-B14F-4D97-AF65-F5344CB8AC3E}">
        <p14:creationId xmlns:p14="http://schemas.microsoft.com/office/powerpoint/2010/main" val="34455908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20</a:t>
            </a:fld>
            <a:endParaRPr lang="en-US" dirty="0"/>
          </a:p>
        </p:txBody>
      </p:sp>
    </p:spTree>
    <p:extLst>
      <p:ext uri="{BB962C8B-B14F-4D97-AF65-F5344CB8AC3E}">
        <p14:creationId xmlns:p14="http://schemas.microsoft.com/office/powerpoint/2010/main" val="666968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21</a:t>
            </a:fld>
            <a:endParaRPr lang="en-US" dirty="0"/>
          </a:p>
        </p:txBody>
      </p:sp>
    </p:spTree>
    <p:extLst>
      <p:ext uri="{BB962C8B-B14F-4D97-AF65-F5344CB8AC3E}">
        <p14:creationId xmlns:p14="http://schemas.microsoft.com/office/powerpoint/2010/main" val="41699604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22</a:t>
            </a:fld>
            <a:endParaRPr lang="en-US" dirty="0"/>
          </a:p>
        </p:txBody>
      </p:sp>
    </p:spTree>
    <p:extLst>
      <p:ext uri="{BB962C8B-B14F-4D97-AF65-F5344CB8AC3E}">
        <p14:creationId xmlns:p14="http://schemas.microsoft.com/office/powerpoint/2010/main" val="2747850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23</a:t>
            </a:fld>
            <a:endParaRPr lang="en-US" dirty="0"/>
          </a:p>
        </p:txBody>
      </p:sp>
    </p:spTree>
    <p:extLst>
      <p:ext uri="{BB962C8B-B14F-4D97-AF65-F5344CB8AC3E}">
        <p14:creationId xmlns:p14="http://schemas.microsoft.com/office/powerpoint/2010/main" val="5066897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24</a:t>
            </a:fld>
            <a:endParaRPr lang="en-US" dirty="0"/>
          </a:p>
        </p:txBody>
      </p:sp>
    </p:spTree>
    <p:extLst>
      <p:ext uri="{BB962C8B-B14F-4D97-AF65-F5344CB8AC3E}">
        <p14:creationId xmlns:p14="http://schemas.microsoft.com/office/powerpoint/2010/main" val="16799376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25</a:t>
            </a:fld>
            <a:endParaRPr lang="en-US" dirty="0"/>
          </a:p>
        </p:txBody>
      </p:sp>
    </p:spTree>
    <p:extLst>
      <p:ext uri="{BB962C8B-B14F-4D97-AF65-F5344CB8AC3E}">
        <p14:creationId xmlns:p14="http://schemas.microsoft.com/office/powerpoint/2010/main" val="579726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26</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4/7/2022</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4/7/2022</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infolab.stanford.edu/~taherh/papers/eosystem-pr.pdf"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3999" y="2175392"/>
            <a:ext cx="9144000" cy="830997"/>
          </a:xfrm>
        </p:spPr>
        <p:txBody>
          <a:bodyPr lIns="0" tIns="0" rIns="0" bIns="0" anchor="t">
            <a:spAutoFit/>
          </a:bodyPr>
          <a:lstStyle/>
          <a:p>
            <a:r>
              <a:rPr lang="en-US" b="1" dirty="0">
                <a:solidFill>
                  <a:schemeClr val="bg1"/>
                </a:solidFill>
              </a:rPr>
              <a:t>Link Analysis</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0" y="3429000"/>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1" name="Subtitle 2">
            <a:extLst>
              <a:ext uri="{FF2B5EF4-FFF2-40B4-BE49-F238E27FC236}">
                <a16:creationId xmlns:a16="http://schemas.microsoft.com/office/drawing/2014/main" id="{88E1772C-FA3A-4718-9F37-10E3F48988E1}"/>
              </a:ext>
            </a:extLst>
          </p:cNvPr>
          <p:cNvSpPr txBox="1">
            <a:spLocks/>
          </p:cNvSpPr>
          <p:nvPr/>
        </p:nvSpPr>
        <p:spPr>
          <a:xfrm>
            <a:off x="2772259" y="4329118"/>
            <a:ext cx="6647481" cy="213937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err="1">
                <a:solidFill>
                  <a:schemeClr val="bg1"/>
                </a:solidFill>
                <a:latin typeface="Times New Roman" panose="02020603050405020304" pitchFamily="18" charset="0"/>
                <a:cs typeface="Times New Roman" panose="02020603050405020304" pitchFamily="18" charset="0"/>
              </a:rPr>
              <a:t>Người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thực</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hiện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Nguyễn</a:t>
            </a:r>
            <a:r>
              <a:rPr lang="en-US" dirty="0">
                <a:solidFill>
                  <a:schemeClr val="bg1"/>
                </a:solidFill>
                <a:latin typeface="Times New Roman" panose="02020603050405020304" pitchFamily="18" charset="0"/>
                <a:cs typeface="Times New Roman" panose="02020603050405020304" pitchFamily="18" charset="0"/>
              </a:rPr>
              <a:t> Minh Phương</a:t>
            </a:r>
          </a:p>
          <a:p>
            <a:pPr marL="0" indent="0" algn="ctr">
              <a:buNone/>
            </a:pPr>
            <a:r>
              <a:rPr lang="en-US" dirty="0" err="1">
                <a:solidFill>
                  <a:schemeClr val="bg1"/>
                </a:solidFill>
                <a:latin typeface="Times New Roman" panose="02020603050405020304" pitchFamily="18" charset="0"/>
                <a:cs typeface="Times New Roman" panose="02020603050405020304" pitchFamily="18" charset="0"/>
              </a:rPr>
              <a:t>Thực</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tập</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sinh</a:t>
            </a:r>
            <a:r>
              <a:rPr lang="en-US" dirty="0">
                <a:solidFill>
                  <a:schemeClr val="bg1"/>
                </a:solidFill>
                <a:latin typeface="Times New Roman" panose="02020603050405020304" pitchFamily="18" charset="0"/>
                <a:cs typeface="Times New Roman" panose="02020603050405020304" pitchFamily="18" charset="0"/>
              </a:rPr>
              <a:t> : AI</a:t>
            </a:r>
          </a:p>
          <a:p>
            <a:pPr marL="0" indent="0" algn="ctr">
              <a:buNone/>
            </a:pPr>
            <a:r>
              <a:rPr lang="en-US" dirty="0">
                <a:solidFill>
                  <a:schemeClr val="bg1"/>
                </a:solidFill>
                <a:latin typeface="Times New Roman" panose="02020603050405020304" pitchFamily="18" charset="0"/>
                <a:cs typeface="Times New Roman" panose="02020603050405020304" pitchFamily="18" charset="0"/>
              </a:rPr>
              <a:t>SĐT:0965889088</a:t>
            </a:r>
          </a:p>
          <a:p>
            <a:pPr marL="0" indent="0" algn="ctr">
              <a:buNone/>
            </a:pPr>
            <a:r>
              <a:rPr lang="en-US" dirty="0">
                <a:solidFill>
                  <a:schemeClr val="bg1"/>
                </a:solidFill>
                <a:latin typeface="Times New Roman" panose="02020603050405020304" pitchFamily="18" charset="0"/>
                <a:cs typeface="Times New Roman" panose="02020603050405020304" pitchFamily="18" charset="0"/>
              </a:rPr>
              <a:t>Gmail: phuong99dh@gmail.com</a:t>
            </a: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8309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err="1">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Chương</a:t>
            </a:r>
            <a:r>
              <a:rPr lang="en-US" sz="32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5</a:t>
            </a:r>
            <a:b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5248275" y="2857500"/>
            <a:ext cx="1695450" cy="16954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err="1">
                <a:solidFill>
                  <a:schemeClr val="bg1"/>
                </a:solidFill>
                <a:effectLst>
                  <a:outerShdw blurRad="38100" dist="38100" dir="2700000" algn="tl">
                    <a:srgbClr val="000000">
                      <a:alpha val="43137"/>
                    </a:srgbClr>
                  </a:outerShdw>
                </a:effectLst>
              </a:rPr>
              <a:t>Lisnk</a:t>
            </a:r>
            <a:r>
              <a:rPr lang="en-US" sz="1800" b="1" dirty="0">
                <a:solidFill>
                  <a:schemeClr val="bg1"/>
                </a:solidFill>
                <a:effectLst>
                  <a:outerShdw blurRad="38100" dist="38100" dir="2700000" algn="tl">
                    <a:srgbClr val="000000">
                      <a:alpha val="43137"/>
                    </a:srgbClr>
                  </a:outerShdw>
                </a:effectLst>
              </a:rPr>
              <a:t> Analysis</a:t>
            </a:r>
            <a:endParaRPr lang="en-US" b="1" dirty="0">
              <a:solidFill>
                <a:schemeClr val="bg1"/>
              </a:solidFill>
              <a:effectLst>
                <a:outerShdw blurRad="38100" dist="38100" dir="2700000" algn="tl">
                  <a:srgbClr val="000000">
                    <a:alpha val="43137"/>
                  </a:srgbClr>
                </a:outerShdw>
              </a:effectLst>
              <a:latin typeface="+mj-lt"/>
            </a:endParaRP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46386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5.2. Efficient Computation of PageRank</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8893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5.4. Link Spam</a:t>
            </a: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46386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5.6. Reference Document</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609600" y="1613877"/>
            <a:ext cx="46386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 </a:t>
            </a:r>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609600" y="3334727"/>
            <a:ext cx="38893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 Topic-Sensitive PageRank</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609600" y="5154978"/>
            <a:ext cx="46386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5.5. Hubs and Authorities</a:t>
            </a: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rot="8026093">
            <a:off x="3912385" y="3549788"/>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3" name="Freeform 4665" descr="Icon of graph. ">
            <a:extLst>
              <a:ext uri="{FF2B5EF4-FFF2-40B4-BE49-F238E27FC236}">
                <a16:creationId xmlns:a16="http://schemas.microsoft.com/office/drawing/2014/main" id="{D1050A21-6F76-4713-9524-F14A3C94FD10}"/>
              </a:ext>
            </a:extLst>
          </p:cNvPr>
          <p:cNvSpPr>
            <a:spLocks/>
          </p:cNvSpPr>
          <p:nvPr/>
        </p:nvSpPr>
        <p:spPr bwMode="auto">
          <a:xfrm rot="18920742">
            <a:off x="7787409" y="3531385"/>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4" name="Freeform 4665" descr="Icon of graph. ">
            <a:extLst>
              <a:ext uri="{FF2B5EF4-FFF2-40B4-BE49-F238E27FC236}">
                <a16:creationId xmlns:a16="http://schemas.microsoft.com/office/drawing/2014/main" id="{CF4DD2E5-7613-446C-B7BB-11D386A4E031}"/>
              </a:ext>
            </a:extLst>
          </p:cNvPr>
          <p:cNvSpPr>
            <a:spLocks/>
          </p:cNvSpPr>
          <p:nvPr/>
        </p:nvSpPr>
        <p:spPr bwMode="auto">
          <a:xfrm rot="11374278">
            <a:off x="4715659" y="1772110"/>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4665" descr="Icon of graph. ">
            <a:extLst>
              <a:ext uri="{FF2B5EF4-FFF2-40B4-BE49-F238E27FC236}">
                <a16:creationId xmlns:a16="http://schemas.microsoft.com/office/drawing/2014/main" id="{C895DDDD-A136-4FFC-9BF4-2113302A99F4}"/>
              </a:ext>
            </a:extLst>
          </p:cNvPr>
          <p:cNvSpPr>
            <a:spLocks/>
          </p:cNvSpPr>
          <p:nvPr/>
        </p:nvSpPr>
        <p:spPr bwMode="auto">
          <a:xfrm rot="15687172">
            <a:off x="7159085" y="1728813"/>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4665" descr="Icon of graph. ">
            <a:extLst>
              <a:ext uri="{FF2B5EF4-FFF2-40B4-BE49-F238E27FC236}">
                <a16:creationId xmlns:a16="http://schemas.microsoft.com/office/drawing/2014/main" id="{9C3C3AAD-7E51-4101-8860-0A70039DA0A6}"/>
              </a:ext>
            </a:extLst>
          </p:cNvPr>
          <p:cNvSpPr>
            <a:spLocks/>
          </p:cNvSpPr>
          <p:nvPr/>
        </p:nvSpPr>
        <p:spPr bwMode="auto">
          <a:xfrm rot="5082162">
            <a:off x="4715660" y="5321700"/>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4665" descr="Icon of graph. ">
            <a:extLst>
              <a:ext uri="{FF2B5EF4-FFF2-40B4-BE49-F238E27FC236}">
                <a16:creationId xmlns:a16="http://schemas.microsoft.com/office/drawing/2014/main" id="{C5934D38-78E7-411B-8030-B0807810EE88}"/>
              </a:ext>
            </a:extLst>
          </p:cNvPr>
          <p:cNvSpPr>
            <a:spLocks/>
          </p:cNvSpPr>
          <p:nvPr/>
        </p:nvSpPr>
        <p:spPr bwMode="auto">
          <a:xfrm rot="322055">
            <a:off x="7090560" y="535163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9971519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down)">
                                      <p:cBhvr>
                                        <p:cTn id="7" dur="580">
                                          <p:stCondLst>
                                            <p:cond delay="0"/>
                                          </p:stCondLst>
                                        </p:cTn>
                                        <p:tgtEl>
                                          <p:spTgt spid="13">
                                            <p:txEl>
                                              <p:pRg st="0" end="0"/>
                                            </p:txEl>
                                          </p:spTgt>
                                        </p:tgtEl>
                                      </p:cBhvr>
                                    </p:animEffect>
                                    <p:anim calcmode="lin" valueType="num">
                                      <p:cBhvr>
                                        <p:cTn id="8" dur="1822" tmFilter="0,0; 0.14,0.36; 0.43,0.73; 0.71,0.91; 1.0,1.0">
                                          <p:stCondLst>
                                            <p:cond delay="0"/>
                                          </p:stCondLst>
                                        </p:cTn>
                                        <p:tgtEl>
                                          <p:spTgt spid="1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3">
                                            <p:txEl>
                                              <p:pRg st="0" end="0"/>
                                            </p:txEl>
                                          </p:spTgt>
                                        </p:tgtEl>
                                      </p:cBhvr>
                                      <p:to x="100000" y="60000"/>
                                    </p:animScale>
                                    <p:animScale>
                                      <p:cBhvr>
                                        <p:cTn id="14" dur="166" decel="50000">
                                          <p:stCondLst>
                                            <p:cond delay="676"/>
                                          </p:stCondLst>
                                        </p:cTn>
                                        <p:tgtEl>
                                          <p:spTgt spid="13">
                                            <p:txEl>
                                              <p:pRg st="0" end="0"/>
                                            </p:txEl>
                                          </p:spTgt>
                                        </p:tgtEl>
                                      </p:cBhvr>
                                      <p:to x="100000" y="100000"/>
                                    </p:animScale>
                                    <p:animScale>
                                      <p:cBhvr>
                                        <p:cTn id="15" dur="26">
                                          <p:stCondLst>
                                            <p:cond delay="1312"/>
                                          </p:stCondLst>
                                        </p:cTn>
                                        <p:tgtEl>
                                          <p:spTgt spid="13">
                                            <p:txEl>
                                              <p:pRg st="0" end="0"/>
                                            </p:txEl>
                                          </p:spTgt>
                                        </p:tgtEl>
                                      </p:cBhvr>
                                      <p:to x="100000" y="80000"/>
                                    </p:animScale>
                                    <p:animScale>
                                      <p:cBhvr>
                                        <p:cTn id="16" dur="166" decel="50000">
                                          <p:stCondLst>
                                            <p:cond delay="1338"/>
                                          </p:stCondLst>
                                        </p:cTn>
                                        <p:tgtEl>
                                          <p:spTgt spid="13">
                                            <p:txEl>
                                              <p:pRg st="0" end="0"/>
                                            </p:txEl>
                                          </p:spTgt>
                                        </p:tgtEl>
                                      </p:cBhvr>
                                      <p:to x="100000" y="100000"/>
                                    </p:animScale>
                                    <p:animScale>
                                      <p:cBhvr>
                                        <p:cTn id="17" dur="26">
                                          <p:stCondLst>
                                            <p:cond delay="1642"/>
                                          </p:stCondLst>
                                        </p:cTn>
                                        <p:tgtEl>
                                          <p:spTgt spid="13">
                                            <p:txEl>
                                              <p:pRg st="0" end="0"/>
                                            </p:txEl>
                                          </p:spTgt>
                                        </p:tgtEl>
                                      </p:cBhvr>
                                      <p:to x="100000" y="90000"/>
                                    </p:animScale>
                                    <p:animScale>
                                      <p:cBhvr>
                                        <p:cTn id="18" dur="166" decel="50000">
                                          <p:stCondLst>
                                            <p:cond delay="1668"/>
                                          </p:stCondLst>
                                        </p:cTn>
                                        <p:tgtEl>
                                          <p:spTgt spid="13">
                                            <p:txEl>
                                              <p:pRg st="0" end="0"/>
                                            </p:txEl>
                                          </p:spTgt>
                                        </p:tgtEl>
                                      </p:cBhvr>
                                      <p:to x="100000" y="100000"/>
                                    </p:animScale>
                                    <p:animScale>
                                      <p:cBhvr>
                                        <p:cTn id="19" dur="26">
                                          <p:stCondLst>
                                            <p:cond delay="1808"/>
                                          </p:stCondLst>
                                        </p:cTn>
                                        <p:tgtEl>
                                          <p:spTgt spid="13">
                                            <p:txEl>
                                              <p:pRg st="0" end="0"/>
                                            </p:txEl>
                                          </p:spTgt>
                                        </p:tgtEl>
                                      </p:cBhvr>
                                      <p:to x="100000" y="95000"/>
                                    </p:animScale>
                                    <p:animScale>
                                      <p:cBhvr>
                                        <p:cTn id="20" dur="166" decel="50000">
                                          <p:stCondLst>
                                            <p:cond delay="1834"/>
                                          </p:stCondLst>
                                        </p:cTn>
                                        <p:tgtEl>
                                          <p:spTgt spid="1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0" presetClass="entr" presetSubtype="0" decel="100000" fill="hold" grpId="0" nodeType="clickEffect">
                                  <p:stCondLst>
                                    <p:cond delay="0"/>
                                  </p:stCondLst>
                                  <p:childTnLst>
                                    <p:set>
                                      <p:cBhvr>
                                        <p:cTn id="24" dur="1" fill="hold">
                                          <p:stCondLst>
                                            <p:cond delay="0"/>
                                          </p:stCondLst>
                                        </p:cTn>
                                        <p:tgtEl>
                                          <p:spTgt spid="25">
                                            <p:bg/>
                                          </p:spTgt>
                                        </p:tgtEl>
                                        <p:attrNameLst>
                                          <p:attrName>style.visibility</p:attrName>
                                        </p:attrNameLst>
                                      </p:cBhvr>
                                      <p:to>
                                        <p:strVal val="visible"/>
                                      </p:to>
                                    </p:set>
                                    <p:anim calcmode="lin" valueType="num">
                                      <p:cBhvr>
                                        <p:cTn id="25" dur="1000" fill="hold"/>
                                        <p:tgtEl>
                                          <p:spTgt spid="25">
                                            <p:bg/>
                                          </p:spTgt>
                                        </p:tgtEl>
                                        <p:attrNameLst>
                                          <p:attrName>ppt_w</p:attrName>
                                        </p:attrNameLst>
                                      </p:cBhvr>
                                      <p:tavLst>
                                        <p:tav tm="0">
                                          <p:val>
                                            <p:strVal val="#ppt_w+.3"/>
                                          </p:val>
                                        </p:tav>
                                        <p:tav tm="100000">
                                          <p:val>
                                            <p:strVal val="#ppt_w"/>
                                          </p:val>
                                        </p:tav>
                                      </p:tavLst>
                                    </p:anim>
                                    <p:anim calcmode="lin" valueType="num">
                                      <p:cBhvr>
                                        <p:cTn id="26" dur="1000" fill="hold"/>
                                        <p:tgtEl>
                                          <p:spTgt spid="25">
                                            <p:bg/>
                                          </p:spTgt>
                                        </p:tgtEl>
                                        <p:attrNameLst>
                                          <p:attrName>ppt_h</p:attrName>
                                        </p:attrNameLst>
                                      </p:cBhvr>
                                      <p:tavLst>
                                        <p:tav tm="0">
                                          <p:val>
                                            <p:strVal val="#ppt_h"/>
                                          </p:val>
                                        </p:tav>
                                        <p:tav tm="100000">
                                          <p:val>
                                            <p:strVal val="#ppt_h"/>
                                          </p:val>
                                        </p:tav>
                                      </p:tavLst>
                                    </p:anim>
                                    <p:animEffect transition="in" filter="fade">
                                      <p:cBhvr>
                                        <p:cTn id="27" dur="1000"/>
                                        <p:tgtEl>
                                          <p:spTgt spid="25">
                                            <p:bg/>
                                          </p:spTgt>
                                        </p:tgtEl>
                                      </p:cBhvr>
                                    </p:animEffect>
                                  </p:childTnLst>
                                </p:cTn>
                              </p:par>
                              <p:par>
                                <p:cTn id="28" presetID="50" presetClass="entr" presetSubtype="0" decel="100000" fill="hold" grpId="0" nodeType="withEffect">
                                  <p:stCondLst>
                                    <p:cond delay="0"/>
                                  </p:stCondLst>
                                  <p:childTnLst>
                                    <p:set>
                                      <p:cBhvr>
                                        <p:cTn id="29" dur="1" fill="hold">
                                          <p:stCondLst>
                                            <p:cond delay="0"/>
                                          </p:stCondLst>
                                        </p:cTn>
                                        <p:tgtEl>
                                          <p:spTgt spid="25">
                                            <p:txEl>
                                              <p:pRg st="0" end="0"/>
                                            </p:txEl>
                                          </p:spTgt>
                                        </p:tgtEl>
                                        <p:attrNameLst>
                                          <p:attrName>style.visibility</p:attrName>
                                        </p:attrNameLst>
                                      </p:cBhvr>
                                      <p:to>
                                        <p:strVal val="visible"/>
                                      </p:to>
                                    </p:set>
                                    <p:anim calcmode="lin" valueType="num">
                                      <p:cBhvr>
                                        <p:cTn id="30" dur="1000" fill="hold"/>
                                        <p:tgtEl>
                                          <p:spTgt spid="25">
                                            <p:txEl>
                                              <p:pRg st="0" end="0"/>
                                            </p:txEl>
                                          </p:spTgt>
                                        </p:tgtEl>
                                        <p:attrNameLst>
                                          <p:attrName>ppt_w</p:attrName>
                                        </p:attrNameLst>
                                      </p:cBhvr>
                                      <p:tavLst>
                                        <p:tav tm="0">
                                          <p:val>
                                            <p:strVal val="#ppt_w+.3"/>
                                          </p:val>
                                        </p:tav>
                                        <p:tav tm="100000">
                                          <p:val>
                                            <p:strVal val="#ppt_w"/>
                                          </p:val>
                                        </p:tav>
                                      </p:tavLst>
                                    </p:anim>
                                    <p:anim calcmode="lin" valueType="num">
                                      <p:cBhvr>
                                        <p:cTn id="31" dur="1000" fill="hold"/>
                                        <p:tgtEl>
                                          <p:spTgt spid="25">
                                            <p:txEl>
                                              <p:pRg st="0" end="0"/>
                                            </p:txEl>
                                          </p:spTgt>
                                        </p:tgtEl>
                                        <p:attrNameLst>
                                          <p:attrName>ppt_h</p:attrName>
                                        </p:attrNameLst>
                                      </p:cBhvr>
                                      <p:tavLst>
                                        <p:tav tm="0">
                                          <p:val>
                                            <p:strVal val="#ppt_h"/>
                                          </p:val>
                                        </p:tav>
                                        <p:tav tm="100000">
                                          <p:val>
                                            <p:strVal val="#ppt_h"/>
                                          </p:val>
                                        </p:tav>
                                      </p:tavLst>
                                    </p:anim>
                                    <p:animEffect transition="in" filter="fade">
                                      <p:cBhvr>
                                        <p:cTn id="32" dur="1000"/>
                                        <p:tgtEl>
                                          <p:spTgt spid="2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0" presetClass="entr" presetSubtype="0" decel="10000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1000" fill="hold"/>
                                        <p:tgtEl>
                                          <p:spTgt spid="16"/>
                                        </p:tgtEl>
                                        <p:attrNameLst>
                                          <p:attrName>ppt_w</p:attrName>
                                        </p:attrNameLst>
                                      </p:cBhvr>
                                      <p:tavLst>
                                        <p:tav tm="0">
                                          <p:val>
                                            <p:strVal val="#ppt_w+.3"/>
                                          </p:val>
                                        </p:tav>
                                        <p:tav tm="100000">
                                          <p:val>
                                            <p:strVal val="#ppt_w"/>
                                          </p:val>
                                        </p:tav>
                                      </p:tavLst>
                                    </p:anim>
                                    <p:anim calcmode="lin" valueType="num">
                                      <p:cBhvr>
                                        <p:cTn id="38" dur="1000" fill="hold"/>
                                        <p:tgtEl>
                                          <p:spTgt spid="16"/>
                                        </p:tgtEl>
                                        <p:attrNameLst>
                                          <p:attrName>ppt_h</p:attrName>
                                        </p:attrNameLst>
                                      </p:cBhvr>
                                      <p:tavLst>
                                        <p:tav tm="0">
                                          <p:val>
                                            <p:strVal val="#ppt_h"/>
                                          </p:val>
                                        </p:tav>
                                        <p:tav tm="100000">
                                          <p:val>
                                            <p:strVal val="#ppt_h"/>
                                          </p:val>
                                        </p:tav>
                                      </p:tavLst>
                                    </p:anim>
                                    <p:animEffect transition="in" filter="fade">
                                      <p:cBhvr>
                                        <p:cTn id="39" dur="10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50" presetClass="entr" presetSubtype="0" decel="100000" fill="hold" grpId="0" nodeType="clickEffect">
                                  <p:stCondLst>
                                    <p:cond delay="0"/>
                                  </p:stCondLst>
                                  <p:childTnLst>
                                    <p:set>
                                      <p:cBhvr>
                                        <p:cTn id="43" dur="1" fill="hold">
                                          <p:stCondLst>
                                            <p:cond delay="0"/>
                                          </p:stCondLst>
                                        </p:cTn>
                                        <p:tgtEl>
                                          <p:spTgt spid="27">
                                            <p:bg/>
                                          </p:spTgt>
                                        </p:tgtEl>
                                        <p:attrNameLst>
                                          <p:attrName>style.visibility</p:attrName>
                                        </p:attrNameLst>
                                      </p:cBhvr>
                                      <p:to>
                                        <p:strVal val="visible"/>
                                      </p:to>
                                    </p:set>
                                    <p:anim calcmode="lin" valueType="num">
                                      <p:cBhvr>
                                        <p:cTn id="44" dur="1000" fill="hold"/>
                                        <p:tgtEl>
                                          <p:spTgt spid="27">
                                            <p:bg/>
                                          </p:spTgt>
                                        </p:tgtEl>
                                        <p:attrNameLst>
                                          <p:attrName>ppt_w</p:attrName>
                                        </p:attrNameLst>
                                      </p:cBhvr>
                                      <p:tavLst>
                                        <p:tav tm="0">
                                          <p:val>
                                            <p:strVal val="#ppt_w+.3"/>
                                          </p:val>
                                        </p:tav>
                                        <p:tav tm="100000">
                                          <p:val>
                                            <p:strVal val="#ppt_w"/>
                                          </p:val>
                                        </p:tav>
                                      </p:tavLst>
                                    </p:anim>
                                    <p:anim calcmode="lin" valueType="num">
                                      <p:cBhvr>
                                        <p:cTn id="45" dur="1000" fill="hold"/>
                                        <p:tgtEl>
                                          <p:spTgt spid="27">
                                            <p:bg/>
                                          </p:spTgt>
                                        </p:tgtEl>
                                        <p:attrNameLst>
                                          <p:attrName>ppt_h</p:attrName>
                                        </p:attrNameLst>
                                      </p:cBhvr>
                                      <p:tavLst>
                                        <p:tav tm="0">
                                          <p:val>
                                            <p:strVal val="#ppt_h"/>
                                          </p:val>
                                        </p:tav>
                                        <p:tav tm="100000">
                                          <p:val>
                                            <p:strVal val="#ppt_h"/>
                                          </p:val>
                                        </p:tav>
                                      </p:tavLst>
                                    </p:anim>
                                    <p:animEffect transition="in" filter="fade">
                                      <p:cBhvr>
                                        <p:cTn id="46" dur="1000"/>
                                        <p:tgtEl>
                                          <p:spTgt spid="27">
                                            <p:bg/>
                                          </p:spTgt>
                                        </p:tgtEl>
                                      </p:cBhvr>
                                    </p:animEffect>
                                  </p:childTnLst>
                                </p:cTn>
                              </p:par>
                              <p:par>
                                <p:cTn id="47" presetID="50" presetClass="entr" presetSubtype="0" decel="100000" fill="hold" grpId="0" nodeType="withEffect">
                                  <p:stCondLst>
                                    <p:cond delay="0"/>
                                  </p:stCondLst>
                                  <p:childTnLst>
                                    <p:set>
                                      <p:cBhvr>
                                        <p:cTn id="48" dur="1" fill="hold">
                                          <p:stCondLst>
                                            <p:cond delay="0"/>
                                          </p:stCondLst>
                                        </p:cTn>
                                        <p:tgtEl>
                                          <p:spTgt spid="27">
                                            <p:txEl>
                                              <p:pRg st="0" end="0"/>
                                            </p:txEl>
                                          </p:spTgt>
                                        </p:tgtEl>
                                        <p:attrNameLst>
                                          <p:attrName>style.visibility</p:attrName>
                                        </p:attrNameLst>
                                      </p:cBhvr>
                                      <p:to>
                                        <p:strVal val="visible"/>
                                      </p:to>
                                    </p:set>
                                    <p:anim calcmode="lin" valueType="num">
                                      <p:cBhvr>
                                        <p:cTn id="49" dur="1000" fill="hold"/>
                                        <p:tgtEl>
                                          <p:spTgt spid="27">
                                            <p:txEl>
                                              <p:pRg st="0" end="0"/>
                                            </p:txEl>
                                          </p:spTgt>
                                        </p:tgtEl>
                                        <p:attrNameLst>
                                          <p:attrName>ppt_w</p:attrName>
                                        </p:attrNameLst>
                                      </p:cBhvr>
                                      <p:tavLst>
                                        <p:tav tm="0">
                                          <p:val>
                                            <p:strVal val="#ppt_w+.3"/>
                                          </p:val>
                                        </p:tav>
                                        <p:tav tm="100000">
                                          <p:val>
                                            <p:strVal val="#ppt_w"/>
                                          </p:val>
                                        </p:tav>
                                      </p:tavLst>
                                    </p:anim>
                                    <p:anim calcmode="lin" valueType="num">
                                      <p:cBhvr>
                                        <p:cTn id="50" dur="1000" fill="hold"/>
                                        <p:tgtEl>
                                          <p:spTgt spid="27">
                                            <p:txEl>
                                              <p:pRg st="0" end="0"/>
                                            </p:txEl>
                                          </p:spTgt>
                                        </p:tgtEl>
                                        <p:attrNameLst>
                                          <p:attrName>ppt_h</p:attrName>
                                        </p:attrNameLst>
                                      </p:cBhvr>
                                      <p:tavLst>
                                        <p:tav tm="0">
                                          <p:val>
                                            <p:strVal val="#ppt_h"/>
                                          </p:val>
                                        </p:tav>
                                        <p:tav tm="100000">
                                          <p:val>
                                            <p:strVal val="#ppt_h"/>
                                          </p:val>
                                        </p:tav>
                                      </p:tavLst>
                                    </p:anim>
                                    <p:animEffect transition="in" filter="fade">
                                      <p:cBhvr>
                                        <p:cTn id="51" dur="1000"/>
                                        <p:tgtEl>
                                          <p:spTgt spid="27">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0" presetClass="entr" presetSubtype="0" decel="10000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p:cTn id="56" dur="1000" fill="hold"/>
                                        <p:tgtEl>
                                          <p:spTgt spid="19"/>
                                        </p:tgtEl>
                                        <p:attrNameLst>
                                          <p:attrName>ppt_w</p:attrName>
                                        </p:attrNameLst>
                                      </p:cBhvr>
                                      <p:tavLst>
                                        <p:tav tm="0">
                                          <p:val>
                                            <p:strVal val="#ppt_w+.3"/>
                                          </p:val>
                                        </p:tav>
                                        <p:tav tm="100000">
                                          <p:val>
                                            <p:strVal val="#ppt_w"/>
                                          </p:val>
                                        </p:tav>
                                      </p:tavLst>
                                    </p:anim>
                                    <p:anim calcmode="lin" valueType="num">
                                      <p:cBhvr>
                                        <p:cTn id="57" dur="1000" fill="hold"/>
                                        <p:tgtEl>
                                          <p:spTgt spid="19"/>
                                        </p:tgtEl>
                                        <p:attrNameLst>
                                          <p:attrName>ppt_h</p:attrName>
                                        </p:attrNameLst>
                                      </p:cBhvr>
                                      <p:tavLst>
                                        <p:tav tm="0">
                                          <p:val>
                                            <p:strVal val="#ppt_h"/>
                                          </p:val>
                                        </p:tav>
                                        <p:tav tm="100000">
                                          <p:val>
                                            <p:strVal val="#ppt_h"/>
                                          </p:val>
                                        </p:tav>
                                      </p:tavLst>
                                    </p:anim>
                                    <p:animEffect transition="in" filter="fade">
                                      <p:cBhvr>
                                        <p:cTn id="58" dur="10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50" presetClass="entr" presetSubtype="0" decel="10000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p:cTn id="63" dur="1000" fill="hold"/>
                                        <p:tgtEl>
                                          <p:spTgt spid="29"/>
                                        </p:tgtEl>
                                        <p:attrNameLst>
                                          <p:attrName>ppt_w</p:attrName>
                                        </p:attrNameLst>
                                      </p:cBhvr>
                                      <p:tavLst>
                                        <p:tav tm="0">
                                          <p:val>
                                            <p:strVal val="#ppt_w+.3"/>
                                          </p:val>
                                        </p:tav>
                                        <p:tav tm="100000">
                                          <p:val>
                                            <p:strVal val="#ppt_w"/>
                                          </p:val>
                                        </p:tav>
                                      </p:tavLst>
                                    </p:anim>
                                    <p:anim calcmode="lin" valueType="num">
                                      <p:cBhvr>
                                        <p:cTn id="64" dur="1000" fill="hold"/>
                                        <p:tgtEl>
                                          <p:spTgt spid="29"/>
                                        </p:tgtEl>
                                        <p:attrNameLst>
                                          <p:attrName>ppt_h</p:attrName>
                                        </p:attrNameLst>
                                      </p:cBhvr>
                                      <p:tavLst>
                                        <p:tav tm="0">
                                          <p:val>
                                            <p:strVal val="#ppt_h"/>
                                          </p:val>
                                        </p:tav>
                                        <p:tav tm="100000">
                                          <p:val>
                                            <p:strVal val="#ppt_h"/>
                                          </p:val>
                                        </p:tav>
                                      </p:tavLst>
                                    </p:anim>
                                    <p:animEffect transition="in" filter="fade">
                                      <p:cBhvr>
                                        <p:cTn id="65" dur="1000"/>
                                        <p:tgtEl>
                                          <p:spTgt spid="29"/>
                                        </p:tgtEl>
                                      </p:cBhvr>
                                    </p:animEffect>
                                  </p:childTnLst>
                                </p:cTn>
                              </p:par>
                            </p:childTnLst>
                          </p:cTn>
                        </p:par>
                      </p:childTnLst>
                    </p:cTn>
                  </p:par>
                  <p:par>
                    <p:cTn id="66" fill="hold">
                      <p:stCondLst>
                        <p:cond delay="indefinite"/>
                      </p:stCondLst>
                      <p:childTnLst>
                        <p:par>
                          <p:cTn id="67" fill="hold">
                            <p:stCondLst>
                              <p:cond delay="0"/>
                            </p:stCondLst>
                            <p:childTnLst>
                              <p:par>
                                <p:cTn id="68" presetID="50" presetClass="entr" presetSubtype="0" decel="100000"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p:cTn id="70" dur="1000" fill="hold"/>
                                        <p:tgtEl>
                                          <p:spTgt spid="21"/>
                                        </p:tgtEl>
                                        <p:attrNameLst>
                                          <p:attrName>ppt_w</p:attrName>
                                        </p:attrNameLst>
                                      </p:cBhvr>
                                      <p:tavLst>
                                        <p:tav tm="0">
                                          <p:val>
                                            <p:strVal val="#ppt_w+.3"/>
                                          </p:val>
                                        </p:tav>
                                        <p:tav tm="100000">
                                          <p:val>
                                            <p:strVal val="#ppt_w"/>
                                          </p:val>
                                        </p:tav>
                                      </p:tavLst>
                                    </p:anim>
                                    <p:anim calcmode="lin" valueType="num">
                                      <p:cBhvr>
                                        <p:cTn id="71" dur="1000" fill="hold"/>
                                        <p:tgtEl>
                                          <p:spTgt spid="21"/>
                                        </p:tgtEl>
                                        <p:attrNameLst>
                                          <p:attrName>ppt_h</p:attrName>
                                        </p:attrNameLst>
                                      </p:cBhvr>
                                      <p:tavLst>
                                        <p:tav tm="0">
                                          <p:val>
                                            <p:strVal val="#ppt_h"/>
                                          </p:val>
                                        </p:tav>
                                        <p:tav tm="100000">
                                          <p:val>
                                            <p:strVal val="#ppt_h"/>
                                          </p:val>
                                        </p:tav>
                                      </p:tavLst>
                                    </p:anim>
                                    <p:animEffect transition="in" filter="fade">
                                      <p:cBhvr>
                                        <p:cTn id="72"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1" grpId="0" animBg="1"/>
      <p:bldP spid="25" grpId="0" build="allAtOnce" animBg="1"/>
      <p:bldP spid="27" grpId="0" build="allAtOnce"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8863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err="1">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Chương</a:t>
            </a:r>
            <a:r>
              <a:rPr lang="en-US" sz="32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5</a:t>
            </a: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sz="3200" dirty="0">
                <a:solidFill>
                  <a:schemeClr val="tx1">
                    <a:lumMod val="75000"/>
                    <a:lumOff val="25000"/>
                  </a:schemeClr>
                </a:solidFill>
              </a:rPr>
            </a:br>
            <a:endParaRPr lang="en-US" sz="32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3247043"/>
          </a:xfrm>
          <a:prstGeom prst="rect">
            <a:avLst/>
          </a:prstGeom>
          <a:noFill/>
        </p:spPr>
        <p:txBody>
          <a:bodyPr wrap="square" rtlCol="0">
            <a:spAutoFit/>
          </a:bodyPr>
          <a:lstStyle/>
          <a:p>
            <a:pPr algn="just"/>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 </a:t>
            </a:r>
          </a:p>
          <a:p>
            <a:pPr algn="just"/>
            <a:endParaRPr lang="en-US" sz="11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Giải pháp của Google đối với Spam có thuật ngữ: </a:t>
            </a:r>
            <a:endParaRPr lang="en-US" sz="2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1600"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Google có thể chống lại spam có</a:t>
            </a:r>
            <a:r>
              <a:rPr lang="vi-VN" spc="-2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20" dirty="0">
                <a:effectLst/>
                <a:latin typeface="Times New Roman" panose="02020603050405020304" pitchFamily="18" charset="0"/>
                <a:ea typeface="Courier New" panose="02070309020205020404" pitchFamily="49" charset="0"/>
                <a:cs typeface="Times New Roman" panose="02020603050405020304" pitchFamily="18" charset="0"/>
              </a:rPr>
              <a:t>thuật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ngữ bằng hai kỹ thuật</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a:t>
            </a: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gn="just">
              <a:buFont typeface="Courier New" panose="02070309020205020404" pitchFamily="49" charset="0"/>
              <a:buChar char="o"/>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Đầu tiên là thuật toán Xếp hạng trang để ngăn chặn việc khai thác tầm quan trọng tương đối của các trang trên Web</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lvl="1"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742950" lvl="1" indent="-285750" algn="just">
              <a:buFont typeface="Courier New" panose="02070309020205020404" pitchFamily="49" charset="0"/>
              <a:buChar char="o"/>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Thứ hai là chiến lược tin những gì các trang khác nói về một trang nhất định, trong hoặc gần các liên kết của họ đến trang đó, thay vì chỉ tin những gì trang đó nói về chính</a:t>
            </a:r>
            <a:r>
              <a:rPr lang="vi-VN" spc="-1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nó.</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256913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15"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900" decel="100000" fill="hold"/>
                                        <p:tgtEl>
                                          <p:spTgt spid="3">
                                            <p:txEl>
                                              <p:pRg st="8" end="8"/>
                                            </p:txEl>
                                          </p:spTgt>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3">
                                            <p:txEl>
                                              <p:pRg st="8" end="8"/>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923877"/>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Xếp hạng trang: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Xếp hạng trang là một thuật toán chỉ định một số thực, được gọi là Xếp hạng trang của nó, cho mỗi trang trên Web.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Xếp hạng Trang của một trang là </a:t>
            </a:r>
            <a:r>
              <a:rPr lang="vi-VN" spc="-15" dirty="0">
                <a:effectLst/>
                <a:latin typeface="Times New Roman" panose="02020603050405020304" pitchFamily="18" charset="0"/>
                <a:ea typeface="Courier New" panose="02070309020205020404" pitchFamily="49" charset="0"/>
                <a:cs typeface="Times New Roman" panose="02020603050405020304" pitchFamily="18" charset="0"/>
              </a:rPr>
              <a:t>thước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đo mức độ quan trọng của trang hoặc khả năng nó trở thành phản hồi tốt cho một truy vấn tìm kiếm.</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Ở dạng đơn giản nhất, PageRank là một giải pháp cho phương trình đệ quy “một trang là quan trọng nếu các trang quan trọng liên kết với nó”.</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276122103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1">
                                            <p:txEl>
                                              <p:pRg st="0" end="0"/>
                                            </p:txEl>
                                          </p:spTgt>
                                        </p:tgtEl>
                                      </p:cBhvr>
                                    </p:animEffect>
                                    <p:animScale>
                                      <p:cBhvr>
                                        <p:cTn id="7" dur="250" autoRev="1" fill="hold"/>
                                        <p:tgtEl>
                                          <p:spTgt spid="11">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ox(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 calcmode="lin" valueType="num">
                                      <p:cBhvr>
                                        <p:cTn id="2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2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24" dur="10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wipe(down)">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616101"/>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Ma trận chuyển tiếp của Web: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ea typeface="Courier New" panose="02070309020205020404" pitchFamily="49" charset="0"/>
                <a:cs typeface="Times New Roman" panose="02020603050405020304" pitchFamily="18" charset="0"/>
              </a:rPr>
              <a:t>Ta</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 biểu diễn các liên kết trong Web bằng một ma trận có hàng thứ i và cột thứ i đại diện cho trang thứ i của Web.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Nếu có một hoặc nhiều liên kết từ trang j đến trang i, thì mục nhập ở hàng i và cột j là 1 / k,</a:t>
            </a:r>
            <a:r>
              <a:rPr lang="en-US" dirty="0">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trong đó k là số trang mà trang j liên kết.</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Các mục khác của ma trận chuyển tiếp là 0.</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4210960436"/>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3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4" dur="1000"/>
                                        <p:tgtEl>
                                          <p:spTgt spid="3">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923877"/>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Tính toán Xếp hạng Trang trên Đồ thị Web được Kết nối mạnh mẽ: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Đối với các đồ thị Web được kết nối mạnh mẽ (những biểu đồ mà bất kỳ nút nào có thể tiếp cận bất kỳ</a:t>
            </a:r>
            <a:r>
              <a:rPr lang="vi-VN" spc="-2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nút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nào khác),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t</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rang là công cụ chính của ma trận chuyển tiếp.</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Chúng ta có thể tính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bằng cách bắt đầu với bất kỳ vectơ khác không nào và nhân nhiều lần vectơ hiện tại với ma trận chuyển tiếp, để có được ước tính tốt hơn.</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Sau</a:t>
            </a:r>
            <a:r>
              <a:rPr lang="vi-VN" spc="-2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15" dirty="0">
                <a:effectLst/>
                <a:latin typeface="Times New Roman" panose="02020603050405020304" pitchFamily="18" charset="0"/>
                <a:ea typeface="Courier New" panose="02070309020205020404" pitchFamily="49" charset="0"/>
                <a:cs typeface="Times New Roman" panose="02020603050405020304" pitchFamily="18" charset="0"/>
              </a:rPr>
              <a:t>khoảng</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50 lần lặp, ước tính sẽ rất gần với giới hạn, đó là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thực sự.</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3218292536"/>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7"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900"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3">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52"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Scale>
                                      <p:cBhvr>
                                        <p:cTn id="22" dur="1000" decel="50000" fill="hold">
                                          <p:stCondLst>
                                            <p:cond delay="0"/>
                                          </p:stCondLst>
                                        </p:cTn>
                                        <p:tgtEl>
                                          <p:spTgt spid="3">
                                            <p:txEl>
                                              <p:pRg st="5" end="5"/>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3">
                                            <p:txEl>
                                              <p:pRg st="5" end="5"/>
                                            </p:txEl>
                                          </p:spTgt>
                                        </p:tgtEl>
                                        <p:attrNameLst>
                                          <p:attrName>ppt_x</p:attrName>
                                          <p:attrName>ppt_y</p:attrName>
                                        </p:attrNameLst>
                                      </p:cBhvr>
                                    </p:animMotion>
                                    <p:animEffect transition="in" filter="fade">
                                      <p:cBhvr>
                                        <p:cTn id="24" dur="10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5"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p:cTn id="29"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7" end="7"/>
                                            </p:txEl>
                                          </p:spTgt>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3">
                                            <p:txEl>
                                              <p:pRg st="7" end="7"/>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3170099"/>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Mô hình người lướt web ngẫu nhiên:</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Tính toán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có thể được coi là mô phỏng hành vi của nhiều người lướt web ngẫu nhiên, mỗi người bắt đầu ở một trang ngẫu nhiên và ở bất kỳ bước nào di chuyển ngẫu nhiên đến một trong các trang mà trang hiện tại của họ liên kết đến.</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Xác suất giới hạn của việc người lướt ở một trang nhất định là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của trang đó.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Trực giác là mọi người có xu hướng tạo liên kết đến các trang mà họ cho là hữu ích, vì vậy những người lướt ngẫu nhiên sẽ có xu hướng ở một trang hữu ích.</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4264121347"/>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10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15"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p:cTn id="21"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3"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
                                        <p:tgtEl>
                                          <p:spTgt spid="3">
                                            <p:txEl>
                                              <p:pRg st="7" end="7"/>
                                            </p:txEl>
                                          </p:spTgt>
                                        </p:tgtEl>
                                      </p:cBhvr>
                                    </p:animEffect>
                                    <p:anim calcmode="lin" valueType="num">
                                      <p:cBhvr>
                                        <p:cTn id="29" dur="4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400" fill="hold"/>
                                        <p:tgtEl>
                                          <p:spTgt spid="3">
                                            <p:txEl>
                                              <p:pRg st="7" end="7"/>
                                            </p:txEl>
                                          </p:spTgt>
                                        </p:tgtEl>
                                        <p:attrNameLst>
                                          <p:attrName>ppt_y</p:attrName>
                                        </p:attrNameLst>
                                      </p:cBhvr>
                                      <p:tavLst>
                                        <p:tav tm="0">
                                          <p:val>
                                            <p:strVal val="#ppt_y+0.31"/>
                                          </p:val>
                                        </p:tav>
                                        <p:tav tm="100000">
                                          <p:val>
                                            <p:strVal val="#ppt_y+0.31"/>
                                          </p:val>
                                        </p:tav>
                                      </p:tavLst>
                                    </p:anim>
                                    <p:anim calcmode="lin" valueType="num">
                                      <p:cBhvr>
                                        <p:cTn id="31" dur="600" decel="50000" fill="hold">
                                          <p:stCondLst>
                                            <p:cond delay="400"/>
                                          </p:stCondLst>
                                        </p:cTn>
                                        <p:tgtEl>
                                          <p:spTgt spid="3">
                                            <p:txEl>
                                              <p:pRg st="7" end="7"/>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2" dur="600" decel="50000" fill="hold">
                                          <p:stCondLst>
                                            <p:cond delay="400"/>
                                          </p:stCondLst>
                                        </p:cTn>
                                        <p:tgtEl>
                                          <p:spTgt spid="3">
                                            <p:txEl>
                                              <p:pRg st="7" end="7"/>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4001095"/>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Tránh</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kết</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thúc</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chết</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chóc</a:t>
            </a: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Kết thúc là một trang Web không có liên kết ra ngoài.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Sự hiện diện</a:t>
            </a:r>
            <a:r>
              <a:rPr lang="vi-VN" spc="-2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của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các ngõ cụt sẽ khiến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của một số hoặc tất cả các trang về 0 trong quá trình tính toán lặp đi lặp lại, bao gồm cả các trang không phải là ngõ cụt.</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ea typeface="Courier New" panose="02070309020205020404" pitchFamily="49" charset="0"/>
                <a:cs typeface="Times New Roman" panose="02020603050405020304" pitchFamily="18" charset="0"/>
              </a:rPr>
              <a:t>Ta</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 có thể loại bỏ tất cả các điểm cuối trước khi thực hiện tính toán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a:t>
            </a:r>
            <a:r>
              <a:rPr lang="vi-VN" spc="-24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trang bằng cách loại bỏ đệ quy các nút mà không có vòng cung nào ra ngoài.</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Lưu ý rằng</a:t>
            </a:r>
            <a:r>
              <a:rPr lang="vi-VN" spc="-24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việc thả một nút có thể khiến nút khác, chỉ liên kết với nó, trở thành một điểm cuối, vì vậy quá trình này phải là đệ</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quy.</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38216242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additive="base">
                                        <p:cTn id="1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1000"/>
                                        <p:tgtEl>
                                          <p:spTgt spid="3">
                                            <p:txEl>
                                              <p:pRg st="5" end="5"/>
                                            </p:txEl>
                                          </p:spTgt>
                                        </p:tgtEl>
                                      </p:cBhvr>
                                    </p:animEffect>
                                    <p:anim calcmode="lin" valueType="num">
                                      <p:cBhvr>
                                        <p:cTn id="2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1000"/>
                                        <p:tgtEl>
                                          <p:spTgt spid="3">
                                            <p:txEl>
                                              <p:pRg st="9" end="9"/>
                                            </p:txEl>
                                          </p:spTgt>
                                        </p:tgtEl>
                                      </p:cBhvr>
                                    </p:animEffect>
                                    <p:anim calcmode="lin" valueType="num">
                                      <p:cBhvr>
                                        <p:cTn id="3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339102"/>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Spider Traps</a:t>
            </a: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Spider Traps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là một tập hợp các nút, mặc dù chúng có thể liên kết với nhau, nhưng không có liên kết nào với các nút khác.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Trong một phép tính lặp đi lặp lại của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sự hiện diện của các </a:t>
            </a:r>
            <a:r>
              <a:rPr lang="en-US" dirty="0">
                <a:latin typeface="Times New Roman" panose="02020603050405020304" pitchFamily="18" charset="0"/>
                <a:cs typeface="Times New Roman" panose="02020603050405020304" pitchFamily="18" charset="0"/>
              </a:rPr>
              <a:t>Spider Traps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khiến tất cả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bị bắt trong tập hợp các nút</a:t>
            </a:r>
            <a:r>
              <a:rPr lang="vi-VN" spc="1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đó.</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950402788"/>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p:cTn id="1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800" decel="100000"/>
                                        <p:tgtEl>
                                          <p:spTgt spid="3">
                                            <p:txEl>
                                              <p:pRg st="5" end="5"/>
                                            </p:txEl>
                                          </p:spTgt>
                                        </p:tgtEl>
                                      </p:cBhvr>
                                    </p:animEffect>
                                    <p:anim calcmode="lin" valueType="num">
                                      <p:cBhvr>
                                        <p:cTn id="19" dur="800" decel="100000" fill="hold"/>
                                        <p:tgtEl>
                                          <p:spTgt spid="3">
                                            <p:txEl>
                                              <p:pRg st="5" end="5"/>
                                            </p:txEl>
                                          </p:spTgt>
                                        </p:tgtEl>
                                        <p:attrNameLst>
                                          <p:attrName>style.rotation</p:attrName>
                                        </p:attrNameLst>
                                      </p:cBhvr>
                                      <p:tavLst>
                                        <p:tav tm="0">
                                          <p:val>
                                            <p:fltVal val="-90"/>
                                          </p:val>
                                        </p:tav>
                                        <p:tav tm="100000">
                                          <p:val>
                                            <p:fltVal val="0"/>
                                          </p:val>
                                        </p:tav>
                                      </p:tavLst>
                                    </p:anim>
                                    <p:anim calcmode="lin" valueType="num">
                                      <p:cBhvr>
                                        <p:cTn id="20" dur="800" decel="100000" fill="hold"/>
                                        <p:tgtEl>
                                          <p:spTgt spid="3">
                                            <p:txEl>
                                              <p:pRg st="5" end="5"/>
                                            </p:txEl>
                                          </p:spTgt>
                                        </p:tgtEl>
                                        <p:attrNameLst>
                                          <p:attrName>ppt_x</p:attrName>
                                        </p:attrNameLst>
                                      </p:cBhvr>
                                      <p:tavLst>
                                        <p:tav tm="0">
                                          <p:val>
                                            <p:strVal val="#ppt_x+0.4"/>
                                          </p:val>
                                        </p:tav>
                                        <p:tav tm="100000">
                                          <p:val>
                                            <p:strVal val="#ppt_x-0.05"/>
                                          </p:val>
                                        </p:tav>
                                      </p:tavLst>
                                    </p:anim>
                                    <p:anim calcmode="lin" valueType="num">
                                      <p:cBhvr>
                                        <p:cTn id="21" dur="800" decel="100000" fill="hold"/>
                                        <p:tgtEl>
                                          <p:spTgt spid="3">
                                            <p:txEl>
                                              <p:pRg st="5" end="5"/>
                                            </p:txEl>
                                          </p:spTgt>
                                        </p:tgtEl>
                                        <p:attrNameLst>
                                          <p:attrName>ppt_y</p:attrName>
                                        </p:attrNameLst>
                                      </p:cBhvr>
                                      <p:tavLst>
                                        <p:tav tm="0">
                                          <p:val>
                                            <p:strVal val="#ppt_y-0.4"/>
                                          </p:val>
                                        </p:tav>
                                        <p:tav tm="100000">
                                          <p:val>
                                            <p:strVal val="#ppt_y+0.1"/>
                                          </p:val>
                                        </p:tav>
                                      </p:tavLst>
                                    </p:anim>
                                    <p:anim calcmode="lin" valueType="num">
                                      <p:cBhvr>
                                        <p:cTn id="22" dur="200" accel="100000" fill="hold">
                                          <p:stCondLst>
                                            <p:cond delay="800"/>
                                          </p:stCondLst>
                                        </p:cTn>
                                        <p:tgtEl>
                                          <p:spTgt spid="3">
                                            <p:txEl>
                                              <p:pRg st="5" end="5"/>
                                            </p:txEl>
                                          </p:spTgt>
                                        </p:tgtEl>
                                        <p:attrNameLst>
                                          <p:attrName>ppt_x</p:attrName>
                                        </p:attrNameLst>
                                      </p:cBhvr>
                                      <p:tavLst>
                                        <p:tav tm="0">
                                          <p:val>
                                            <p:strVal val="#ppt_x-0.05"/>
                                          </p:val>
                                        </p:tav>
                                        <p:tav tm="100000">
                                          <p:val>
                                            <p:strVal val="#ppt_x"/>
                                          </p:val>
                                        </p:tav>
                                      </p:tavLst>
                                    </p:anim>
                                    <p:anim calcmode="lin" valueType="num">
                                      <p:cBhvr>
                                        <p:cTn id="23" dur="200" accel="100000" fill="hold">
                                          <p:stCondLst>
                                            <p:cond delay="800"/>
                                          </p:stCondLst>
                                        </p:cTn>
                                        <p:tgtEl>
                                          <p:spTgt spid="3">
                                            <p:txEl>
                                              <p:pRg st="5" end="5"/>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616101"/>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b="1" dirty="0" err="1">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Lược</a:t>
            </a:r>
            <a:r>
              <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b="1" dirty="0" err="1">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đồ</a:t>
            </a:r>
            <a:r>
              <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Taxation</a:t>
            </a: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Để chống lại tác động của </a:t>
            </a:r>
            <a:r>
              <a:rPr lang="en-US" dirty="0">
                <a:latin typeface="Times New Roman" panose="02020603050405020304" pitchFamily="18" charset="0"/>
                <a:cs typeface="Times New Roman" panose="02020603050405020304" pitchFamily="18" charset="0"/>
              </a:rPr>
              <a:t>Spider Traps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(và của các ngõ cụt, nếu chúng  ta không loại bỏ chúng), </a:t>
            </a:r>
            <a:r>
              <a:rPr lang="en-US" dirty="0" err="1">
                <a:latin typeface="Times New Roman" panose="02020603050405020304" pitchFamily="18" charset="0"/>
                <a:ea typeface="Courier New" panose="02070309020205020404" pitchFamily="49" charset="0"/>
                <a:cs typeface="Times New Roman" panose="02020603050405020304" pitchFamily="18" charset="0"/>
              </a:rPr>
              <a:t>xếp</a:t>
            </a:r>
            <a:r>
              <a:rPr lang="en-US" dirty="0">
                <a:latin typeface="Times New Roman" panose="02020603050405020304" pitchFamily="18" charset="0"/>
                <a:ea typeface="Courier New" panose="02070309020205020404" pitchFamily="49" charset="0"/>
                <a:cs typeface="Times New Roman" panose="02020603050405020304" pitchFamily="18" charset="0"/>
              </a:rPr>
              <a:t> </a:t>
            </a:r>
            <a:r>
              <a:rPr lang="en-US" dirty="0" err="1">
                <a:latin typeface="Times New Roman" panose="02020603050405020304" pitchFamily="18" charset="0"/>
                <a:ea typeface="Courier New" panose="02070309020205020404" pitchFamily="49" charset="0"/>
                <a:cs typeface="Times New Roman" panose="02020603050405020304" pitchFamily="18" charset="0"/>
              </a:rPr>
              <a:t>hạng</a:t>
            </a:r>
            <a:r>
              <a:rPr lang="en-US" dirty="0">
                <a:latin typeface="Times New Roman" panose="02020603050405020304" pitchFamily="18" charset="0"/>
                <a:ea typeface="Courier New" panose="02070309020205020404" pitchFamily="49" charset="0"/>
                <a:cs typeface="Times New Roman" panose="02020603050405020304" pitchFamily="18" charset="0"/>
              </a:rPr>
              <a:t> </a:t>
            </a:r>
            <a:r>
              <a:rPr lang="en-US" dirty="0" err="1">
                <a:latin typeface="Times New Roman" panose="02020603050405020304" pitchFamily="18" charset="0"/>
                <a:ea typeface="Courier New" panose="02070309020205020404" pitchFamily="49" charset="0"/>
                <a:cs typeface="Times New Roman" panose="02020603050405020304" pitchFamily="18" charset="0"/>
              </a:rPr>
              <a:t>trang</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 thường được tính theo cách điều chỉnh phép nhân lặp lại đơn giản bởi ma trận chuyển</a:t>
            </a:r>
            <a:r>
              <a:rPr lang="vi-VN" spc="6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tiếp.</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Tham số β được chọn, thường là khoảng 0,85. Với một ước tính về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ước tính tiếp theo được tính bằng cách nhân ước tính với β nhân với ma trận chuyển tiếp, sau đó cộng (1 - β) / n vào ước tính cho mỗi trang, trong đó n là tổng số trang.</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416087811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p:cTn id="12" dur="10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13"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900" decel="100000" fill="hold"/>
                                        <p:tgtEl>
                                          <p:spTgt spid="3">
                                            <p:txEl>
                                              <p:pRg st="5" end="5"/>
                                            </p:txEl>
                                          </p:spTgt>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3">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1785104"/>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Đánh thuế và người lướt web ngẫu nhiên:</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Việc tính toán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bằng cách sử dụng tham số phân loại β có thể được coi là cung cấp cho mỗi người lướt web ngẫu nhiên khả năng rời trang Web là 1 - β và giới thiệu một số lượng người lướt tương đương ngẫu nhiên trên toàn bộ trang Web.</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78972985"/>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 PageRank</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3200876"/>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Biểu diễn hiệu quả ma trận chuyển tiếp: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Vì ma trận chuyển tiếp rất thưa thớt (hầu hết tất cả các mục là 0), nó tiết kiệm cả thời gian và không gian để biểu diễn nó bằng  cách liệt kê các mục khác không của nó.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Tuy nhiên, ngoài việc thưa thớt, các mục khác không có một tính chất đặc biệt: chúng đều giống nhau trong bất kỳ cột nhất định nào; giá trị của mỗi mục nhập khác không là nghịch đảo của số mục nhập khác không trong cột đó.</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Do đó, cách biểu diễn được ưu tiên là từng cột, trong đó biểu diễn của một cột là số lượng các mục nhập khác không, theo sau là danh sách các hàng nơi các mục nhập đó xuất</a:t>
            </a:r>
            <a:r>
              <a:rPr lang="vi-VN" spc="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hiện.</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025068315"/>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5"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500" decel="50000" fill="hold">
                                          <p:stCondLst>
                                            <p:cond delay="0"/>
                                          </p:stCondLst>
                                        </p:cTn>
                                        <p:tgtEl>
                                          <p:spTgt spid="3">
                                            <p:txEl>
                                              <p:pRg st="5" end="5"/>
                                            </p:txEl>
                                          </p:spTgt>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3">
                                            <p:txEl>
                                              <p:pRg st="5" end="5"/>
                                            </p:txEl>
                                          </p:spTgt>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3">
                                            <p:txEl>
                                              <p:pRg st="5" end="5"/>
                                            </p:txEl>
                                          </p:spTgt>
                                        </p:tgtEl>
                                        <p:attrNameLst>
                                          <p:attrName>ppt_w</p:attrName>
                                        </p:attrNameLst>
                                      </p:cBhvr>
                                      <p:tavLst>
                                        <p:tav tm="0">
                                          <p:val>
                                            <p:strVal val="#ppt_w*.05"/>
                                          </p:val>
                                        </p:tav>
                                        <p:tav tm="100000">
                                          <p:val>
                                            <p:strVal val="#ppt_w"/>
                                          </p:val>
                                        </p:tav>
                                      </p:tavLst>
                                    </p:anim>
                                    <p:anim calcmode="lin" valueType="num">
                                      <p:cBhvr>
                                        <p:cTn id="35" dur="1000" fill="hold"/>
                                        <p:tgtEl>
                                          <p:spTgt spid="3">
                                            <p:txEl>
                                              <p:pRg st="5" end="5"/>
                                            </p:txEl>
                                          </p:spTgt>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3">
                                            <p:txEl>
                                              <p:pRg st="5" end="5"/>
                                            </p:txEl>
                                          </p:spTgt>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3">
                                            <p:txEl>
                                              <p:pRg st="5" end="5"/>
                                            </p:txEl>
                                          </p:spTgt>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3">
                                            <p:txEl>
                                              <p:pRg st="5" end="5"/>
                                            </p:txEl>
                                          </p:spTgt>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3">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10127673" y="522898"/>
            <a:ext cx="20643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5.2. Efficient Computation of PageRank </a:t>
            </a:r>
          </a:p>
          <a:p>
            <a:pPr algn="ct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Tính</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Toán</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Hiệu</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Quả</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Xếp</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Hạng</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Trang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213360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923877"/>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Phép nhân </a:t>
            </a:r>
            <a:r>
              <a:rPr lang="vi-VN" sz="2000" b="1" spc="-15"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vectơ-ma </a:t>
            </a: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trận tỉ lệ rất lớn:</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Đối với đồ thị có kích thước Web, việc lưu trữ toàn</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bộ</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vectơ</a:t>
            </a:r>
            <a:r>
              <a:rPr lang="vi-VN" spc="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ước</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tính</a:t>
            </a:r>
            <a:r>
              <a:rPr lang="vi-VN" spc="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dirty="0" err="1">
                <a:effectLst/>
                <a:latin typeface="Times New Roman" panose="02020603050405020304" pitchFamily="18" charset="0"/>
                <a:ea typeface="Courier New" panose="02070309020205020404" pitchFamily="49" charset="0"/>
                <a:cs typeface="Times New Roman" panose="02020603050405020304" pitchFamily="18" charset="0"/>
              </a:rPr>
              <a:t>xếp</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dirty="0" err="1">
                <a:effectLst/>
                <a:latin typeface="Times New Roman" panose="02020603050405020304" pitchFamily="18" charset="0"/>
                <a:ea typeface="Courier New" panose="02070309020205020404" pitchFamily="49" charset="0"/>
                <a:cs typeface="Times New Roman" panose="02020603050405020304" pitchFamily="18" charset="0"/>
              </a:rPr>
              <a:t>hạng</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dirty="0" err="1">
                <a:effectLst/>
                <a:latin typeface="Times New Roman" panose="02020603050405020304" pitchFamily="18" charset="0"/>
                <a:ea typeface="Courier New" panose="02070309020205020404" pitchFamily="49" charset="0"/>
                <a:cs typeface="Times New Roman" panose="02020603050405020304" pitchFamily="18" charset="0"/>
              </a:rPr>
              <a:t>trang</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trong</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bộ</a:t>
            </a:r>
            <a:r>
              <a:rPr lang="vi-VN" spc="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nhớ</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chính</a:t>
            </a:r>
            <a:r>
              <a:rPr lang="vi-VN" spc="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của</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một</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máy</a:t>
            </a:r>
            <a:r>
              <a:rPr lang="vi-VN" spc="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có</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thể</a:t>
            </a:r>
            <a:r>
              <a:rPr lang="vi-VN" spc="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không</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khả</a:t>
            </a:r>
            <a:r>
              <a:rPr lang="vi-VN" spc="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15" dirty="0">
                <a:effectLst/>
                <a:latin typeface="Times New Roman" panose="02020603050405020304" pitchFamily="18" charset="0"/>
                <a:ea typeface="Courier New" panose="02070309020205020404" pitchFamily="49" charset="0"/>
                <a:cs typeface="Times New Roman" panose="02020603050405020304" pitchFamily="18" charset="0"/>
              </a:rPr>
              <a:t>thi. </a:t>
            </a:r>
            <a:endParaRPr lang="en-US" spc="-15"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spc="-15"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en-US" spc="-15" dirty="0">
                <a:latin typeface="Times New Roman" panose="02020603050405020304" pitchFamily="18" charset="0"/>
                <a:ea typeface="Courier New" panose="02070309020205020404" pitchFamily="49" charset="0"/>
                <a:cs typeface="Times New Roman" panose="02020603050405020304" pitchFamily="18" charset="0"/>
              </a:rPr>
              <a:t>Do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đó</a:t>
            </a:r>
            <a:r>
              <a:rPr lang="en-US" spc="-15" dirty="0">
                <a:latin typeface="Times New Roman" panose="02020603050405020304" pitchFamily="18" charset="0"/>
                <a:ea typeface="Courier New" panose="02070309020205020404" pitchFamily="49" charset="0"/>
                <a:cs typeface="Times New Roman" panose="02020603050405020304" pitchFamily="18" charset="0"/>
              </a:rPr>
              <a:t>, ta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có</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thể</a:t>
            </a:r>
            <a:r>
              <a:rPr lang="en-US" spc="-15" dirty="0">
                <a:latin typeface="Times New Roman" panose="02020603050405020304" pitchFamily="18" charset="0"/>
                <a:ea typeface="Courier New" panose="02070309020205020404" pitchFamily="49" charset="0"/>
                <a:cs typeface="Times New Roman" panose="02020603050405020304" pitchFamily="18" charset="0"/>
              </a:rPr>
              <a:t> chia vector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thành</a:t>
            </a:r>
            <a:r>
              <a:rPr lang="en-US" spc="-15" dirty="0">
                <a:latin typeface="Times New Roman" panose="02020603050405020304" pitchFamily="18" charset="0"/>
                <a:ea typeface="Courier New" panose="02070309020205020404" pitchFamily="49" charset="0"/>
                <a:cs typeface="Times New Roman" panose="02020603050405020304" pitchFamily="18" charset="0"/>
              </a:rPr>
              <a:t> k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phân</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đoạn</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và</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phá</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vỡ</a:t>
            </a:r>
            <a:r>
              <a:rPr lang="en-US" spc="-15" dirty="0">
                <a:latin typeface="Times New Roman" panose="02020603050405020304" pitchFamily="18" charset="0"/>
                <a:ea typeface="Courier New" panose="02070309020205020404" pitchFamily="49" charset="0"/>
                <a:cs typeface="Times New Roman" panose="02020603050405020304" pitchFamily="18" charset="0"/>
              </a:rPr>
              <a:t> ma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trận</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chuyển</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đổi</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thành</a:t>
            </a:r>
            <a:r>
              <a:rPr lang="en-US" spc="-15" dirty="0">
                <a:latin typeface="Times New Roman" panose="02020603050405020304" pitchFamily="18" charset="0"/>
                <a:ea typeface="Courier New" panose="02070309020205020404" pitchFamily="49" charset="0"/>
                <a:cs typeface="Times New Roman" panose="02020603050405020304" pitchFamily="18" charset="0"/>
              </a:rPr>
              <a:t> k^2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hình</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vuông,được</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gọi</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là</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khối</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gán</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mỗi</a:t>
            </a:r>
            <a:r>
              <a:rPr lang="en-US" spc="-15" dirty="0">
                <a:latin typeface="Times New Roman" panose="02020603050405020304" pitchFamily="18" charset="0"/>
                <a:ea typeface="Courier New" panose="02070309020205020404" pitchFamily="49" charset="0"/>
                <a:cs typeface="Times New Roman" panose="02020603050405020304" pitchFamily="18" charset="0"/>
              </a:rPr>
              <a:t> ô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vuông</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cho</a:t>
            </a:r>
            <a:r>
              <a:rPr lang="en-US" spc="-15" dirty="0">
                <a:latin typeface="Times New Roman" panose="02020603050405020304" pitchFamily="18" charset="0"/>
                <a:ea typeface="Courier New" panose="02070309020205020404" pitchFamily="49" charset="0"/>
                <a:cs typeface="Times New Roman" panose="02020603050405020304" pitchFamily="18" charset="0"/>
              </a:rPr>
              <a:t> 1 </a:t>
            </a:r>
            <a:r>
              <a:rPr lang="en-US" spc="-15" dirty="0" err="1">
                <a:latin typeface="Times New Roman" panose="02020603050405020304" pitchFamily="18" charset="0"/>
                <a:ea typeface="Courier New" panose="02070309020205020404" pitchFamily="49" charset="0"/>
                <a:cs typeface="Times New Roman" panose="02020603050405020304" pitchFamily="18" charset="0"/>
              </a:rPr>
              <a:t>máy</a:t>
            </a:r>
            <a:r>
              <a:rPr lang="en-US" spc="-15" dirty="0">
                <a:latin typeface="Times New Roman" panose="02020603050405020304" pitchFamily="18" charset="0"/>
                <a:ea typeface="Courier New" panose="02070309020205020404" pitchFamily="49" charset="0"/>
                <a:cs typeface="Times New Roman" panose="02020603050405020304" pitchFamily="18" charset="0"/>
              </a:rPr>
              <a:t> </a:t>
            </a:r>
          </a:p>
          <a:p>
            <a:pPr algn="just"/>
            <a:endParaRPr lang="en-US" spc="-15"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vector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gửi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k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1 chi </a:t>
            </a:r>
            <a:r>
              <a:rPr lang="en-US" dirty="0" err="1">
                <a:latin typeface="Times New Roman" panose="02020603050405020304" pitchFamily="18" charset="0"/>
                <a:cs typeface="Times New Roman" panose="02020603050405020304" pitchFamily="18" charset="0"/>
              </a:rPr>
              <a:t>phí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bổ</a:t>
            </a:r>
            <a:r>
              <a:rPr lang="en-US" dirty="0">
                <a:latin typeface="Times New Roman" panose="02020603050405020304" pitchFamily="18" charset="0"/>
                <a:cs typeface="Times New Roman" panose="02020603050405020304" pitchFamily="18" charset="0"/>
              </a:rPr>
              <a:t> sung </a:t>
            </a:r>
            <a:r>
              <a:rPr lang="en-US" dirty="0" err="1">
                <a:latin typeface="Times New Roman" panose="02020603050405020304" pitchFamily="18" charset="0"/>
                <a:cs typeface="Times New Roman" panose="02020603050405020304" pitchFamily="18" charset="0"/>
              </a:rPr>
              <a:t>nhỏ</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chép</a:t>
            </a:r>
            <a:r>
              <a:rPr lang="en-US" dirty="0">
                <a:latin typeface="Times New Roman" panose="02020603050405020304" pitchFamily="18" charset="0"/>
                <a:cs typeface="Times New Roman" panose="02020603050405020304" pitchFamily="18" charset="0"/>
              </a:rPr>
              <a:t> v</a:t>
            </a:r>
            <a:r>
              <a:rPr lang="en-US" spc="-15" dirty="0">
                <a:latin typeface="Times New Roman" panose="02020603050405020304" pitchFamily="18" charset="0"/>
                <a:cs typeface="Times New Roman" panose="02020603050405020304" pitchFamily="18" charset="0"/>
              </a:rPr>
              <a:t>ector.</a:t>
            </a:r>
            <a:endParaRPr lang="en-US" spc="-15"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513009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11">
                                            <p:txEl>
                                              <p:pRg st="0" end="0"/>
                                            </p:txEl>
                                          </p:spTgt>
                                        </p:tgtEl>
                                        <p:attrNameLst>
                                          <p:attrName>r</p:attrName>
                                        </p:attrNameLst>
                                      </p:cBhvr>
                                    </p:animRot>
                                    <p:animRot by="-240000">
                                      <p:cBhvr>
                                        <p:cTn id="7" dur="200" fill="hold">
                                          <p:stCondLst>
                                            <p:cond delay="200"/>
                                          </p:stCondLst>
                                        </p:cTn>
                                        <p:tgtEl>
                                          <p:spTgt spid="11">
                                            <p:txEl>
                                              <p:pRg st="0" end="0"/>
                                            </p:txEl>
                                          </p:spTgt>
                                        </p:tgtEl>
                                        <p:attrNameLst>
                                          <p:attrName>r</p:attrName>
                                        </p:attrNameLst>
                                      </p:cBhvr>
                                    </p:animRot>
                                    <p:animRot by="240000">
                                      <p:cBhvr>
                                        <p:cTn id="8" dur="200" fill="hold">
                                          <p:stCondLst>
                                            <p:cond delay="400"/>
                                          </p:stCondLst>
                                        </p:cTn>
                                        <p:tgtEl>
                                          <p:spTgt spid="11">
                                            <p:txEl>
                                              <p:pRg st="0" end="0"/>
                                            </p:txEl>
                                          </p:spTgt>
                                        </p:tgtEl>
                                        <p:attrNameLst>
                                          <p:attrName>r</p:attrName>
                                        </p:attrNameLst>
                                      </p:cBhvr>
                                    </p:animRot>
                                    <p:animRot by="-240000">
                                      <p:cBhvr>
                                        <p:cTn id="9" dur="200" fill="hold">
                                          <p:stCondLst>
                                            <p:cond delay="600"/>
                                          </p:stCondLst>
                                        </p:cTn>
                                        <p:tgtEl>
                                          <p:spTgt spid="11">
                                            <p:txEl>
                                              <p:pRg st="0" end="0"/>
                                            </p:txEl>
                                          </p:spTgt>
                                        </p:tgtEl>
                                        <p:attrNameLst>
                                          <p:attrName>r</p:attrName>
                                        </p:attrNameLst>
                                      </p:cBhvr>
                                    </p:animRot>
                                    <p:animRot by="120000">
                                      <p:cBhvr>
                                        <p:cTn id="10" dur="200" fill="hold">
                                          <p:stCondLst>
                                            <p:cond delay="800"/>
                                          </p:stCondLst>
                                        </p:cTn>
                                        <p:tgtEl>
                                          <p:spTgt spid="11">
                                            <p:txEl>
                                              <p:pRg st="0" end="0"/>
                                            </p:txEl>
                                          </p:spTgt>
                                        </p:tgtEl>
                                        <p:attrNameLst>
                                          <p:attrName>r</p:attrName>
                                        </p:attrNameLst>
                                      </p:cBhvr>
                                    </p:animRot>
                                  </p:childTnLst>
                                </p:cTn>
                              </p:par>
                              <p:par>
                                <p:cTn id="11" presetID="32" presetClass="emph" presetSubtype="0" fill="hold" nodeType="withEffect">
                                  <p:stCondLst>
                                    <p:cond delay="0"/>
                                  </p:stCondLst>
                                  <p:childTnLst>
                                    <p:animRot by="120000">
                                      <p:cBhvr>
                                        <p:cTn id="12" dur="100" fill="hold">
                                          <p:stCondLst>
                                            <p:cond delay="0"/>
                                          </p:stCondLst>
                                        </p:cTn>
                                        <p:tgtEl>
                                          <p:spTgt spid="11">
                                            <p:txEl>
                                              <p:pRg st="1" end="1"/>
                                            </p:txEl>
                                          </p:spTgt>
                                        </p:tgtEl>
                                        <p:attrNameLst>
                                          <p:attrName>r</p:attrName>
                                        </p:attrNameLst>
                                      </p:cBhvr>
                                    </p:animRot>
                                    <p:animRot by="-240000">
                                      <p:cBhvr>
                                        <p:cTn id="13" dur="200" fill="hold">
                                          <p:stCondLst>
                                            <p:cond delay="200"/>
                                          </p:stCondLst>
                                        </p:cTn>
                                        <p:tgtEl>
                                          <p:spTgt spid="11">
                                            <p:txEl>
                                              <p:pRg st="1" end="1"/>
                                            </p:txEl>
                                          </p:spTgt>
                                        </p:tgtEl>
                                        <p:attrNameLst>
                                          <p:attrName>r</p:attrName>
                                        </p:attrNameLst>
                                      </p:cBhvr>
                                    </p:animRot>
                                    <p:animRot by="240000">
                                      <p:cBhvr>
                                        <p:cTn id="14" dur="200" fill="hold">
                                          <p:stCondLst>
                                            <p:cond delay="400"/>
                                          </p:stCondLst>
                                        </p:cTn>
                                        <p:tgtEl>
                                          <p:spTgt spid="11">
                                            <p:txEl>
                                              <p:pRg st="1" end="1"/>
                                            </p:txEl>
                                          </p:spTgt>
                                        </p:tgtEl>
                                        <p:attrNameLst>
                                          <p:attrName>r</p:attrName>
                                        </p:attrNameLst>
                                      </p:cBhvr>
                                    </p:animRot>
                                    <p:animRot by="-240000">
                                      <p:cBhvr>
                                        <p:cTn id="15" dur="200" fill="hold">
                                          <p:stCondLst>
                                            <p:cond delay="600"/>
                                          </p:stCondLst>
                                        </p:cTn>
                                        <p:tgtEl>
                                          <p:spTgt spid="11">
                                            <p:txEl>
                                              <p:pRg st="1" end="1"/>
                                            </p:txEl>
                                          </p:spTgt>
                                        </p:tgtEl>
                                        <p:attrNameLst>
                                          <p:attrName>r</p:attrName>
                                        </p:attrNameLst>
                                      </p:cBhvr>
                                    </p:animRot>
                                    <p:animRot by="120000">
                                      <p:cBhvr>
                                        <p:cTn id="16" dur="200" fill="hold">
                                          <p:stCondLst>
                                            <p:cond delay="800"/>
                                          </p:stCondLst>
                                        </p:cTn>
                                        <p:tgtEl>
                                          <p:spTgt spid="11">
                                            <p:txEl>
                                              <p:pRg st="1" end="1"/>
                                            </p:txEl>
                                          </p:spTgt>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50" presetClass="entr" presetSubtype="0" decel="10000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22"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10127673" y="522898"/>
            <a:ext cx="20643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5.2. Efficient Computation of PageRank </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213360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923877"/>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Biểu diễn các khối của ma trận chuyển tiếp: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Khi chúng ta chia ma trận chuyển tiếp thành các khối vuông, các cột được chia thành k đoạn.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Để biểu diễn một phân đoạn của một  cột, không cần thiết nếu không có mục nhập nào khác trong phân đoạn đó.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Tuy nhiên, nếu có một hoặc nhiều mục nhập khác không, thì chúng ta cần biểu thị phân đoạn của cột  bằng tổng số mục nhập khác không trong cột(để chúng ta có thể biết giá trị của các  mục nhập khác không) theo sau là danh sách các hàng với các mục khác</a:t>
            </a:r>
            <a:r>
              <a:rPr lang="vi-VN" spc="30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không.</a:t>
            </a:r>
            <a:endParaRPr lang="en-US" spc="-15"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4289572028"/>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p:cTn id="12" dur="500" decel="50000" fill="hold">
                                          <p:stCondLst>
                                            <p:cond delay="0"/>
                                          </p:stCondLst>
                                        </p:cTn>
                                        <p:tgtEl>
                                          <p:spTgt spid="3">
                                            <p:txEl>
                                              <p:pRg st="3" end="3"/>
                                            </p:txEl>
                                          </p:spTgt>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3">
                                            <p:txEl>
                                              <p:pRg st="3" end="3"/>
                                            </p:txEl>
                                          </p:spTgt>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3">
                                            <p:txEl>
                                              <p:pRg st="3" end="3"/>
                                            </p:txEl>
                                          </p:spTgt>
                                        </p:tgtEl>
                                        <p:attrNameLst>
                                          <p:attrName>ppt_w</p:attrName>
                                        </p:attrNameLst>
                                      </p:cBhvr>
                                      <p:tavLst>
                                        <p:tav tm="0">
                                          <p:val>
                                            <p:strVal val="#ppt_w*.05"/>
                                          </p:val>
                                        </p:tav>
                                        <p:tav tm="100000">
                                          <p:val>
                                            <p:strVal val="#ppt_w"/>
                                          </p:val>
                                        </p:tav>
                                      </p:tavLst>
                                    </p:anim>
                                    <p:anim calcmode="lin" valueType="num">
                                      <p:cBhvr>
                                        <p:cTn id="15" dur="1000" fill="hold"/>
                                        <p:tgtEl>
                                          <p:spTgt spid="3">
                                            <p:txEl>
                                              <p:pRg st="3" end="3"/>
                                            </p:txEl>
                                          </p:spTgt>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3">
                                            <p:txEl>
                                              <p:pRg st="3" end="3"/>
                                            </p:txEl>
                                          </p:spTgt>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3">
                                            <p:txEl>
                                              <p:pRg st="3" end="3"/>
                                            </p:txEl>
                                          </p:spTgt>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3">
                                            <p:txEl>
                                              <p:pRg st="3" end="3"/>
                                            </p:txEl>
                                          </p:spTgt>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3"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
                                        <p:tgtEl>
                                          <p:spTgt spid="3">
                                            <p:txEl>
                                              <p:pRg st="5" end="5"/>
                                            </p:txEl>
                                          </p:spTgt>
                                        </p:tgtEl>
                                      </p:cBhvr>
                                    </p:animEffect>
                                    <p:anim calcmode="lin" valueType="num">
                                      <p:cBhvr>
                                        <p:cTn id="25" dur="4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400" fill="hold"/>
                                        <p:tgtEl>
                                          <p:spTgt spid="3">
                                            <p:txEl>
                                              <p:pRg st="5" end="5"/>
                                            </p:txEl>
                                          </p:spTgt>
                                        </p:tgtEl>
                                        <p:attrNameLst>
                                          <p:attrName>ppt_y</p:attrName>
                                        </p:attrNameLst>
                                      </p:cBhvr>
                                      <p:tavLst>
                                        <p:tav tm="0">
                                          <p:val>
                                            <p:strVal val="#ppt_y+0.31"/>
                                          </p:val>
                                        </p:tav>
                                        <p:tav tm="100000">
                                          <p:val>
                                            <p:strVal val="#ppt_y+0.31"/>
                                          </p:val>
                                        </p:tav>
                                      </p:tavLst>
                                    </p:anim>
                                    <p:anim calcmode="lin" valueType="num">
                                      <p:cBhvr>
                                        <p:cTn id="27" dur="600" decel="50000" fill="hold">
                                          <p:stCondLst>
                                            <p:cond delay="400"/>
                                          </p:stCondLst>
                                        </p:cTn>
                                        <p:tgtEl>
                                          <p:spTgt spid="3">
                                            <p:txEl>
                                              <p:pRg st="5" end="5"/>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8" dur="600" decel="50000" fill="hold">
                                          <p:stCondLst>
                                            <p:cond delay="400"/>
                                          </p:stCondLst>
                                        </p:cTn>
                                        <p:tgtEl>
                                          <p:spTgt spid="3">
                                            <p:txEl>
                                              <p:pRg st="5" end="5"/>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3"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100"/>
                                        <p:tgtEl>
                                          <p:spTgt spid="3">
                                            <p:txEl>
                                              <p:pRg st="7" end="7"/>
                                            </p:txEl>
                                          </p:spTgt>
                                        </p:tgtEl>
                                      </p:cBhvr>
                                    </p:animEffect>
                                    <p:anim calcmode="lin" valueType="num">
                                      <p:cBhvr>
                                        <p:cTn id="34" dur="4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5" dur="400" fill="hold"/>
                                        <p:tgtEl>
                                          <p:spTgt spid="3">
                                            <p:txEl>
                                              <p:pRg st="7" end="7"/>
                                            </p:txEl>
                                          </p:spTgt>
                                        </p:tgtEl>
                                        <p:attrNameLst>
                                          <p:attrName>ppt_y</p:attrName>
                                        </p:attrNameLst>
                                      </p:cBhvr>
                                      <p:tavLst>
                                        <p:tav tm="0">
                                          <p:val>
                                            <p:strVal val="#ppt_y+0.31"/>
                                          </p:val>
                                        </p:tav>
                                        <p:tav tm="100000">
                                          <p:val>
                                            <p:strVal val="#ppt_y+0.31"/>
                                          </p:val>
                                        </p:tav>
                                      </p:tavLst>
                                    </p:anim>
                                    <p:anim calcmode="lin" valueType="num">
                                      <p:cBhvr>
                                        <p:cTn id="36" dur="600" decel="50000" fill="hold">
                                          <p:stCondLst>
                                            <p:cond delay="400"/>
                                          </p:stCondLst>
                                        </p:cTn>
                                        <p:tgtEl>
                                          <p:spTgt spid="3">
                                            <p:txEl>
                                              <p:pRg st="7" end="7"/>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7" dur="600" decel="50000" fill="hold">
                                          <p:stCondLst>
                                            <p:cond delay="400"/>
                                          </p:stCondLst>
                                        </p:cTn>
                                        <p:tgtEl>
                                          <p:spTgt spid="3">
                                            <p:txEl>
                                              <p:pRg st="7" end="7"/>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10127673" y="522898"/>
            <a:ext cx="20643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 Topic-Sensitive PageRank</a:t>
            </a:r>
          </a:p>
          <a:p>
            <a:pPr algn="ct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Xếp</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Hạng</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Trang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Nhạy</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Cảm</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Với</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Chủ</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Đề</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213360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3200876"/>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Xếp hạng trang nhạy cảm với chủ đề:</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Nếu chúng ta biết người truy vấn quan tâm đến chủ  đề xác thực, thì việc xếp hạng thứ hạng trang có lợi cho các trang về chủ đề đó là hợp lý.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Để tính toán dạng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t</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rang này, chúng tôi xác định một tập hợp các trang  được</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biết</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là</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về</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chủ</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đề</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đó</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và</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chúng</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tôi</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sử</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dụng</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nó</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như</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một</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“tập</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hợp</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dịch</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chuyển”.</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endParaRPr lang="en-US" spc="25"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spc="25"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en-US" dirty="0" err="1">
                <a:latin typeface="Times New Roman" panose="02020603050405020304" pitchFamily="18" charset="0"/>
                <a:ea typeface="Courier New" panose="02070309020205020404" pitchFamily="49" charset="0"/>
                <a:cs typeface="Times New Roman" panose="02020603050405020304" pitchFamily="18" charset="0"/>
              </a:rPr>
              <a:t>Các</a:t>
            </a:r>
            <a:r>
              <a:rPr lang="en-US" dirty="0">
                <a:latin typeface="Times New Roman" panose="02020603050405020304" pitchFamily="18" charset="0"/>
                <a:ea typeface="Courier New" panose="02070309020205020404" pitchFamily="49" charset="0"/>
                <a:cs typeface="Times New Roman" panose="02020603050405020304" pitchFamily="18" charset="0"/>
              </a:rPr>
              <a:t> t</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ính toán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được sửa đổi để chỉ các trang trong tập hợp dịch chuyển mới được chia phần thuế, thay vì phân bổ thuế giữa tất cả các trang trên Web.</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28227283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1">
                                            <p:txEl>
                                              <p:pRg st="0" end="0"/>
                                            </p:txEl>
                                          </p:spTgt>
                                        </p:tgtEl>
                                        <p:attrNameLst>
                                          <p:attrName>style.color</p:attrName>
                                        </p:attrNameLst>
                                      </p:cBhvr>
                                      <p:to>
                                        <p:clrVal>
                                          <a:schemeClr val="accent2"/>
                                        </p:clrVal>
                                      </p:to>
                                    </p:set>
                                    <p:set>
                                      <p:cBhvr>
                                        <p:cTn id="7" dur="500" fill="hold"/>
                                        <p:tgtEl>
                                          <p:spTgt spid="11">
                                            <p:txEl>
                                              <p:pRg st="0" end="0"/>
                                            </p:txEl>
                                          </p:spTgt>
                                        </p:tgtEl>
                                        <p:attrNameLst>
                                          <p:attrName>fillcolor</p:attrName>
                                        </p:attrNameLst>
                                      </p:cBhvr>
                                      <p:to>
                                        <p:clrVal>
                                          <a:schemeClr val="accent2"/>
                                        </p:clrVal>
                                      </p:to>
                                    </p:set>
                                    <p:set>
                                      <p:cBhvr>
                                        <p:cTn id="8" dur="500" fill="hold"/>
                                        <p:tgtEl>
                                          <p:spTgt spid="11">
                                            <p:txEl>
                                              <p:pRg st="0" end="0"/>
                                            </p:txEl>
                                          </p:spTgt>
                                        </p:tgtEl>
                                        <p:attrNameLst>
                                          <p:attrName>fill.type</p:attrName>
                                        </p:attrNameLst>
                                      </p:cBhvr>
                                      <p:to>
                                        <p:strVal val="solid"/>
                                      </p:to>
                                    </p:set>
                                  </p:childTnLst>
                                </p:cTn>
                              </p:par>
                              <p:par>
                                <p:cTn id="9" presetID="16" presetClass="emph" presetSubtype="0" fill="hold" nodeType="withEffect">
                                  <p:stCondLst>
                                    <p:cond delay="0"/>
                                  </p:stCondLst>
                                  <p:iterate type="lt">
                                    <p:tmPct val="4000"/>
                                  </p:iterate>
                                  <p:childTnLst>
                                    <p:set>
                                      <p:cBhvr override="childStyle">
                                        <p:cTn id="10" dur="500" fill="hold"/>
                                        <p:tgtEl>
                                          <p:spTgt spid="11">
                                            <p:txEl>
                                              <p:pRg st="1" end="1"/>
                                            </p:txEl>
                                          </p:spTgt>
                                        </p:tgtEl>
                                        <p:attrNameLst>
                                          <p:attrName>style.color</p:attrName>
                                        </p:attrNameLst>
                                      </p:cBhvr>
                                      <p:to>
                                        <p:clrVal>
                                          <a:schemeClr val="accent2"/>
                                        </p:clrVal>
                                      </p:to>
                                    </p:set>
                                    <p:set>
                                      <p:cBhvr>
                                        <p:cTn id="11" dur="500" fill="hold"/>
                                        <p:tgtEl>
                                          <p:spTgt spid="11">
                                            <p:txEl>
                                              <p:pRg st="1" end="1"/>
                                            </p:txEl>
                                          </p:spTgt>
                                        </p:tgtEl>
                                        <p:attrNameLst>
                                          <p:attrName>fillcolor</p:attrName>
                                        </p:attrNameLst>
                                      </p:cBhvr>
                                      <p:to>
                                        <p:clrVal>
                                          <a:schemeClr val="accent2"/>
                                        </p:clrVal>
                                      </p:to>
                                    </p:set>
                                    <p:set>
                                      <p:cBhvr>
                                        <p:cTn id="12" dur="500" fill="hold"/>
                                        <p:tgtEl>
                                          <p:spTgt spid="11">
                                            <p:txEl>
                                              <p:pRg st="1" end="1"/>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Scale>
                                      <p:cBhvr>
                                        <p:cTn id="24" dur="1000" decel="50000" fill="hold">
                                          <p:stCondLst>
                                            <p:cond delay="0"/>
                                          </p:stCondLst>
                                        </p:cTn>
                                        <p:tgtEl>
                                          <p:spTgt spid="3">
                                            <p:txEl>
                                              <p:pRg st="3" end="3"/>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5" dur="1000" decel="50000" fill="hold">
                                          <p:stCondLst>
                                            <p:cond delay="0"/>
                                          </p:stCondLst>
                                        </p:cTn>
                                        <p:tgtEl>
                                          <p:spTgt spid="3">
                                            <p:txEl>
                                              <p:pRg st="3" end="3"/>
                                            </p:txEl>
                                          </p:spTgt>
                                        </p:tgtEl>
                                        <p:attrNameLst>
                                          <p:attrName>ppt_x</p:attrName>
                                          <p:attrName>ppt_y</p:attrName>
                                        </p:attrNameLst>
                                      </p:cBhvr>
                                    </p:animMotion>
                                    <p:animEffect transition="in" filter="fade">
                                      <p:cBhvr>
                                        <p:cTn id="26" dur="10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0" presetClass="entr" presetSubtype="0" decel="10000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p:cTn id="31" dur="1000" fill="hold"/>
                                        <p:tgtEl>
                                          <p:spTgt spid="3">
                                            <p:txEl>
                                              <p:pRg st="5" end="5"/>
                                            </p:txEl>
                                          </p:spTgt>
                                        </p:tgtEl>
                                        <p:attrNameLst>
                                          <p:attrName>ppt_w</p:attrName>
                                        </p:attrNameLst>
                                      </p:cBhvr>
                                      <p:tavLst>
                                        <p:tav tm="0">
                                          <p:val>
                                            <p:strVal val="#ppt_w+.3"/>
                                          </p:val>
                                        </p:tav>
                                        <p:tav tm="100000">
                                          <p:val>
                                            <p:strVal val="#ppt_w"/>
                                          </p:val>
                                        </p:tav>
                                      </p:tavLst>
                                    </p:anim>
                                    <p:anim calcmode="lin" valueType="num">
                                      <p:cBhvr>
                                        <p:cTn id="32"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3" dur="10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5"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 calcmode="lin" valueType="num">
                                      <p:cBhvr>
                                        <p:cTn id="38" dur="500" decel="50000" fill="hold">
                                          <p:stCondLst>
                                            <p:cond delay="0"/>
                                          </p:stCondLst>
                                        </p:cTn>
                                        <p:tgtEl>
                                          <p:spTgt spid="3">
                                            <p:txEl>
                                              <p:pRg st="7" end="7"/>
                                            </p:txEl>
                                          </p:spTgt>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3">
                                            <p:txEl>
                                              <p:pRg st="7" end="7"/>
                                            </p:txEl>
                                          </p:spTgt>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3">
                                            <p:txEl>
                                              <p:pRg st="7" end="7"/>
                                            </p:txEl>
                                          </p:spTgt>
                                        </p:tgtEl>
                                        <p:attrNameLst>
                                          <p:attrName>ppt_w</p:attrName>
                                        </p:attrNameLst>
                                      </p:cBhvr>
                                      <p:tavLst>
                                        <p:tav tm="0">
                                          <p:val>
                                            <p:strVal val="#ppt_w*.05"/>
                                          </p:val>
                                        </p:tav>
                                        <p:tav tm="100000">
                                          <p:val>
                                            <p:strVal val="#ppt_w"/>
                                          </p:val>
                                        </p:tav>
                                      </p:tavLst>
                                    </p:anim>
                                    <p:anim calcmode="lin" valueType="num">
                                      <p:cBhvr>
                                        <p:cTn id="41" dur="1000" fill="hold"/>
                                        <p:tgtEl>
                                          <p:spTgt spid="3">
                                            <p:txEl>
                                              <p:pRg st="7" end="7"/>
                                            </p:txEl>
                                          </p:spTgt>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3">
                                            <p:txEl>
                                              <p:pRg st="7" end="7"/>
                                            </p:txEl>
                                          </p:spTgt>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3">
                                            <p:txEl>
                                              <p:pRg st="7" end="7"/>
                                            </p:txEl>
                                          </p:spTgt>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3">
                                            <p:txEl>
                                              <p:pRg st="7" end="7"/>
                                            </p:txEl>
                                          </p:spTgt>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10127673" y="522898"/>
            <a:ext cx="20643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 Topic-Sensitive PageRank</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213360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923877"/>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Tạo Bộ dịch chuyển:</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Để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nhạy cảm theo chủ đề hoạt động, chúng ta cần xác định các trang rất có khả năng nói về một chủ đề nhất định.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Một cách tiếp cận</a:t>
            </a:r>
            <a:r>
              <a:rPr lang="vi-VN" spc="-2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40" dirty="0">
                <a:effectLst/>
                <a:latin typeface="Times New Roman" panose="02020603050405020304" pitchFamily="18" charset="0"/>
                <a:ea typeface="Courier New" panose="02070309020205020404" pitchFamily="49" charset="0"/>
                <a:cs typeface="Times New Roman" panose="02020603050405020304" pitchFamily="18" charset="0"/>
              </a:rPr>
              <a:t>là</a:t>
            </a:r>
            <a:r>
              <a:rPr lang="en-US" spc="-40" dirty="0">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bắt đầu với các trang mà thư mục mở (DMOZ) xác định với chủ đề đó.</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Một cách khác</a:t>
            </a:r>
            <a:r>
              <a:rPr lang="vi-VN" spc="-2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40" dirty="0">
                <a:effectLst/>
                <a:latin typeface="Times New Roman" panose="02020603050405020304" pitchFamily="18" charset="0"/>
                <a:ea typeface="Courier New" panose="02070309020205020404" pitchFamily="49" charset="0"/>
                <a:cs typeface="Times New Roman" panose="02020603050405020304" pitchFamily="18" charset="0"/>
              </a:rPr>
              <a:t>là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xác định các từ được cho là có liên quan đến chủ đề và chọn bộ dịch chuyển tức</a:t>
            </a:r>
            <a:r>
              <a:rPr lang="vi-VN" spc="-2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20" dirty="0">
                <a:effectLst/>
                <a:latin typeface="Times New Roman" panose="02020603050405020304" pitchFamily="18" charset="0"/>
                <a:ea typeface="Courier New" panose="02070309020205020404" pitchFamily="49" charset="0"/>
                <a:cs typeface="Times New Roman" panose="02020603050405020304" pitchFamily="18" charset="0"/>
              </a:rPr>
              <a:t>thời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cho những trang có số lần xuất hiện các từ như vậy cao bất</a:t>
            </a:r>
            <a:r>
              <a:rPr lang="vi-VN" spc="-11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thường.</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264026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800" decel="100000"/>
                                        <p:tgtEl>
                                          <p:spTgt spid="3">
                                            <p:txEl>
                                              <p:pRg st="1" end="1"/>
                                            </p:txEl>
                                          </p:spTgt>
                                        </p:tgtEl>
                                      </p:cBhvr>
                                    </p:animEffect>
                                    <p:anim calcmode="lin" valueType="num">
                                      <p:cBhvr>
                                        <p:cTn id="8" dur="800" decel="100000" fill="hold"/>
                                        <p:tgtEl>
                                          <p:spTgt spid="3">
                                            <p:txEl>
                                              <p:pRg st="1" end="1"/>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3">
                                            <p:txEl>
                                              <p:pRg st="1" end="1"/>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3">
                                            <p:txEl>
                                              <p:pRg st="1" end="1"/>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xEl>
                                              <p:pRg st="1" end="1"/>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800" decel="100000"/>
                                        <p:tgtEl>
                                          <p:spTgt spid="3">
                                            <p:txEl>
                                              <p:pRg st="3" end="3"/>
                                            </p:txEl>
                                          </p:spTgt>
                                        </p:tgtEl>
                                      </p:cBhvr>
                                    </p:animEffect>
                                    <p:anim calcmode="lin" valueType="num">
                                      <p:cBhvr>
                                        <p:cTn id="18" dur="800" decel="100000" fill="hold"/>
                                        <p:tgtEl>
                                          <p:spTgt spid="3">
                                            <p:txEl>
                                              <p:pRg st="3" end="3"/>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3">
                                            <p:txEl>
                                              <p:pRg st="3" end="3"/>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3">
                                            <p:txEl>
                                              <p:pRg st="3" end="3"/>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3">
                                            <p:txEl>
                                              <p:pRg st="3" end="3"/>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800" decel="100000"/>
                                        <p:tgtEl>
                                          <p:spTgt spid="3">
                                            <p:txEl>
                                              <p:pRg st="5" end="5"/>
                                            </p:txEl>
                                          </p:spTgt>
                                        </p:tgtEl>
                                      </p:cBhvr>
                                    </p:animEffect>
                                    <p:anim calcmode="lin" valueType="num">
                                      <p:cBhvr>
                                        <p:cTn id="28" dur="800" decel="100000" fill="hold"/>
                                        <p:tgtEl>
                                          <p:spTgt spid="3">
                                            <p:txEl>
                                              <p:pRg st="5" end="5"/>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3">
                                            <p:txEl>
                                              <p:pRg st="5" end="5"/>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3">
                                            <p:txEl>
                                              <p:pRg st="5" end="5"/>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3">
                                            <p:txEl>
                                              <p:pRg st="5" end="5"/>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3">
                                            <p:txEl>
                                              <p:pRg st="5" end="5"/>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800" decel="100000"/>
                                        <p:tgtEl>
                                          <p:spTgt spid="3">
                                            <p:txEl>
                                              <p:pRg st="7" end="7"/>
                                            </p:txEl>
                                          </p:spTgt>
                                        </p:tgtEl>
                                      </p:cBhvr>
                                    </p:animEffect>
                                    <p:anim calcmode="lin" valueType="num">
                                      <p:cBhvr>
                                        <p:cTn id="38" dur="800" decel="100000" fill="hold"/>
                                        <p:tgtEl>
                                          <p:spTgt spid="3">
                                            <p:txEl>
                                              <p:pRg st="7" end="7"/>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3">
                                            <p:txEl>
                                              <p:pRg st="7" end="7"/>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3">
                                            <p:txEl>
                                              <p:pRg st="7" end="7"/>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3">
                                            <p:txEl>
                                              <p:pRg st="7" end="7"/>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3">
                                            <p:txEl>
                                              <p:pRg st="7" end="7"/>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7883236" y="522898"/>
            <a:ext cx="430876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5.4. Link Spam</a:t>
            </a:r>
          </a:p>
          <a:p>
            <a:pPr algn="ct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Liên</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Kết</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Thư</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Giác</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29490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1785104"/>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Liên kết Spam: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Để đánh lừa thuật toán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a:t>
            </a:r>
            <a:r>
              <a:rPr lang="en-US" dirty="0" err="1">
                <a:effectLst/>
                <a:latin typeface="Times New Roman" panose="02020603050405020304" pitchFamily="18" charset="0"/>
                <a:ea typeface="Courier New" panose="02070309020205020404" pitchFamily="49" charset="0"/>
                <a:cs typeface="Times New Roman" panose="02020603050405020304" pitchFamily="18" charset="0"/>
              </a:rPr>
              <a:t>ts</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rang, những kẻ vô đạo đức đã tạo ra các trang trại thư rác.</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Đây là những tập hợp các trang có mục đích là tập trung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t</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rang cao vào một trang mục tiêu cụ thể.</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53334491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1">
                                            <p:txEl>
                                              <p:pRg st="0" end="0"/>
                                            </p:txEl>
                                          </p:spTgt>
                                        </p:tgtEl>
                                        <p:attrNameLst>
                                          <p:attrName>style.color</p:attrName>
                                        </p:attrNameLst>
                                      </p:cBhvr>
                                      <p:to>
                                        <p:clrVal>
                                          <a:schemeClr val="accent2"/>
                                        </p:clrVal>
                                      </p:to>
                                    </p:set>
                                    <p:set>
                                      <p:cBhvr>
                                        <p:cTn id="7" dur="500" fill="hold"/>
                                        <p:tgtEl>
                                          <p:spTgt spid="11">
                                            <p:txEl>
                                              <p:pRg st="0" end="0"/>
                                            </p:txEl>
                                          </p:spTgt>
                                        </p:tgtEl>
                                        <p:attrNameLst>
                                          <p:attrName>fillcolor</p:attrName>
                                        </p:attrNameLst>
                                      </p:cBhvr>
                                      <p:to>
                                        <p:clrVal>
                                          <a:schemeClr val="accent2"/>
                                        </p:clrVal>
                                      </p:to>
                                    </p:set>
                                    <p:set>
                                      <p:cBhvr>
                                        <p:cTn id="8" dur="500" fill="hold"/>
                                        <p:tgtEl>
                                          <p:spTgt spid="11">
                                            <p:txEl>
                                              <p:pRg st="0" end="0"/>
                                            </p:txEl>
                                          </p:spTgt>
                                        </p:tgtEl>
                                        <p:attrNameLst>
                                          <p:attrName>fill.type</p:attrName>
                                        </p:attrNameLst>
                                      </p:cBhvr>
                                      <p:to>
                                        <p:strVal val="solid"/>
                                      </p:to>
                                    </p:set>
                                  </p:childTnLst>
                                </p:cTn>
                              </p:par>
                              <p:par>
                                <p:cTn id="9" presetID="16" presetClass="emph" presetSubtype="0" fill="hold" nodeType="withEffect">
                                  <p:stCondLst>
                                    <p:cond delay="0"/>
                                  </p:stCondLst>
                                  <p:iterate type="lt">
                                    <p:tmPct val="4000"/>
                                  </p:iterate>
                                  <p:childTnLst>
                                    <p:set>
                                      <p:cBhvr override="childStyle">
                                        <p:cTn id="10" dur="500" fill="hold"/>
                                        <p:tgtEl>
                                          <p:spTgt spid="11">
                                            <p:txEl>
                                              <p:pRg st="1" end="1"/>
                                            </p:txEl>
                                          </p:spTgt>
                                        </p:tgtEl>
                                        <p:attrNameLst>
                                          <p:attrName>style.color</p:attrName>
                                        </p:attrNameLst>
                                      </p:cBhvr>
                                      <p:to>
                                        <p:clrVal>
                                          <a:schemeClr val="accent2"/>
                                        </p:clrVal>
                                      </p:to>
                                    </p:set>
                                    <p:set>
                                      <p:cBhvr>
                                        <p:cTn id="11" dur="500" fill="hold"/>
                                        <p:tgtEl>
                                          <p:spTgt spid="11">
                                            <p:txEl>
                                              <p:pRg st="1" end="1"/>
                                            </p:txEl>
                                          </p:spTgt>
                                        </p:tgtEl>
                                        <p:attrNameLst>
                                          <p:attrName>fillcolor</p:attrName>
                                        </p:attrNameLst>
                                      </p:cBhvr>
                                      <p:to>
                                        <p:clrVal>
                                          <a:schemeClr val="accent2"/>
                                        </p:clrVal>
                                      </p:to>
                                    </p:set>
                                    <p:set>
                                      <p:cBhvr>
                                        <p:cTn id="12" dur="500" fill="hold"/>
                                        <p:tgtEl>
                                          <p:spTgt spid="11">
                                            <p:txEl>
                                              <p:pRg st="1" end="1"/>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p:cTn id="17"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1000"/>
                                        <p:tgtEl>
                                          <p:spTgt spid="3">
                                            <p:txEl>
                                              <p:pRg st="5" end="5"/>
                                            </p:txEl>
                                          </p:spTgt>
                                        </p:tgtEl>
                                      </p:cBhvr>
                                    </p:animEffect>
                                    <p:anim calcmode="lin" valueType="num">
                                      <p:cBhvr>
                                        <p:cTn id="3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7883236" y="522898"/>
            <a:ext cx="430876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5.4. Link Spam</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29490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3170099"/>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Cấu trúc của một trang trại thư rác: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Thông thường, một trang trại thư rác bao</a:t>
            </a:r>
            <a:r>
              <a:rPr lang="vi-VN" spc="-22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gồm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một trang mục tiêu và rất nhiều trang hỗ trợ.</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Trang đích liên kết đến tất cả</a:t>
            </a:r>
            <a:r>
              <a:rPr lang="vi-VN" spc="-2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các trang hỗ trợ và các trang hỗ trợ chỉ liên kết đến trang</a:t>
            </a:r>
            <a:r>
              <a:rPr lang="vi-VN" spc="-9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đích.</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Ngoài ra, điều cần thiết là phải tạo một số liên kết từ bên ngoài trang trại thư rác.</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Ví dụ: kẻ gửi thư rác có thể giới thiệu các liên kết đến trang mục tiêu của họ bằng cách viết nhận xét trên blog hoặc nhóm thảo luận của người khác.</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48104352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p:cTn id="12"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13"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p:cTn id="19"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20"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21" dur="10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 calcmode="lin" valueType="num">
                                      <p:cBhvr>
                                        <p:cTn id="26" dur="1000" fill="hold"/>
                                        <p:tgtEl>
                                          <p:spTgt spid="3">
                                            <p:txEl>
                                              <p:pRg st="7" end="7"/>
                                            </p:txEl>
                                          </p:spTgt>
                                        </p:tgtEl>
                                        <p:attrNameLst>
                                          <p:attrName>ppt_w</p:attrName>
                                        </p:attrNameLst>
                                      </p:cBhvr>
                                      <p:tavLst>
                                        <p:tav tm="0">
                                          <p:val>
                                            <p:strVal val="#ppt_w*0.70"/>
                                          </p:val>
                                        </p:tav>
                                        <p:tav tm="100000">
                                          <p:val>
                                            <p:strVal val="#ppt_w"/>
                                          </p:val>
                                        </p:tav>
                                      </p:tavLst>
                                    </p:anim>
                                    <p:anim calcmode="lin" valueType="num">
                                      <p:cBhvr>
                                        <p:cTn id="27" dur="1000" fill="hold"/>
                                        <p:tgtEl>
                                          <p:spTgt spid="3">
                                            <p:txEl>
                                              <p:pRg st="7" end="7"/>
                                            </p:txEl>
                                          </p:spTgt>
                                        </p:tgtEl>
                                        <p:attrNameLst>
                                          <p:attrName>ppt_h</p:attrName>
                                        </p:attrNameLst>
                                      </p:cBhvr>
                                      <p:tavLst>
                                        <p:tav tm="0">
                                          <p:val>
                                            <p:strVal val="#ppt_h"/>
                                          </p:val>
                                        </p:tav>
                                        <p:tav tm="100000">
                                          <p:val>
                                            <p:strVal val="#ppt_h"/>
                                          </p:val>
                                        </p:tav>
                                      </p:tavLst>
                                    </p:anim>
                                    <p:animEffect transition="in" filter="fade">
                                      <p:cBhvr>
                                        <p:cTn id="28" dur="10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 calcmode="lin" valueType="num">
                                      <p:cBhvr>
                                        <p:cTn id="33" dur="1000" fill="hold"/>
                                        <p:tgtEl>
                                          <p:spTgt spid="3">
                                            <p:txEl>
                                              <p:pRg st="9" end="9"/>
                                            </p:txEl>
                                          </p:spTgt>
                                        </p:tgtEl>
                                        <p:attrNameLst>
                                          <p:attrName>ppt_w</p:attrName>
                                        </p:attrNameLst>
                                      </p:cBhvr>
                                      <p:tavLst>
                                        <p:tav tm="0">
                                          <p:val>
                                            <p:strVal val="#ppt_w*0.70"/>
                                          </p:val>
                                        </p:tav>
                                        <p:tav tm="100000">
                                          <p:val>
                                            <p:strVal val="#ppt_w"/>
                                          </p:val>
                                        </p:tav>
                                      </p:tavLst>
                                    </p:anim>
                                    <p:anim calcmode="lin" valueType="num">
                                      <p:cBhvr>
                                        <p:cTn id="34" dur="1000" fill="hold"/>
                                        <p:tgtEl>
                                          <p:spTgt spid="3">
                                            <p:txEl>
                                              <p:pRg st="9" end="9"/>
                                            </p:txEl>
                                          </p:spTgt>
                                        </p:tgtEl>
                                        <p:attrNameLst>
                                          <p:attrName>ppt_h</p:attrName>
                                        </p:attrNameLst>
                                      </p:cBhvr>
                                      <p:tavLst>
                                        <p:tav tm="0">
                                          <p:val>
                                            <p:strVal val="#ppt_h"/>
                                          </p:val>
                                        </p:tav>
                                        <p:tav tm="100000">
                                          <p:val>
                                            <p:strVal val="#ppt_h"/>
                                          </p:val>
                                        </p:tav>
                                      </p:tavLst>
                                    </p:anim>
                                    <p:animEffect transition="in" filter="fade">
                                      <p:cBhvr>
                                        <p:cTn id="35"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7883236" y="522898"/>
            <a:ext cx="430876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5.4. Link Spam</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29490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893100"/>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TrustRank:</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Một cách để cải thiện tác động của spam liên kết là tính một PageRank</a:t>
            </a:r>
            <a:r>
              <a:rPr lang="vi-VN" spc="-2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nhạy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cảm với chủ đề được gọi là TrustRank, trong đó tập hợp dịch chuyển là một tập hợp các trang đáng tin cậy.</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Ví dụ: trang chủ của các trường đại học có thể đóng vai trò là tập hợp đáng tin cậy.</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Kỹ thuật này tránh chia sẻ thuế trong tính toán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với số lượng lớn các trang hỗ trợ trong các trang trại thư rác và do đó ưu tiên giảm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của</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họ.</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912226077"/>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7883236" y="522898"/>
            <a:ext cx="430876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5.4. Link Spam</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29490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062103"/>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Hàng loạt thư rác: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Để xác định các trang web thư rác, chúng tôi có thể tính cả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theo từng vị trí và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tin cậy cho tất cả các trang.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Những trang có</a:t>
            </a:r>
            <a:r>
              <a:rPr lang="en-US" dirty="0">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TrustRank thấp hơn nhiều so với PageRank có khả năng là một phần của trang trại thư rác.</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2074443808"/>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Scale>
                                      <p:cBhvr>
                                        <p:cTn id="14" dur="1000" decel="50000" fill="hold">
                                          <p:stCondLst>
                                            <p:cond delay="0"/>
                                          </p:stCondLst>
                                        </p:cTn>
                                        <p:tgtEl>
                                          <p:spTgt spid="3">
                                            <p:txEl>
                                              <p:pRg st="3" end="3"/>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3">
                                            <p:txEl>
                                              <p:pRg st="3" end="3"/>
                                            </p:txEl>
                                          </p:spTgt>
                                        </p:tgtEl>
                                        <p:attrNameLst>
                                          <p:attrName>ppt_x</p:attrName>
                                          <p:attrName>ppt_y</p:attrName>
                                        </p:attrNameLst>
                                      </p:cBhvr>
                                    </p:animMotion>
                                    <p:animEffect transition="in" filter="fade">
                                      <p:cBhvr>
                                        <p:cTn id="16" dur="1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p:cTn id="21"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3">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948600" y="425916"/>
            <a:ext cx="3243400"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5.5. Hubs and Authorities</a:t>
            </a:r>
          </a:p>
          <a:p>
            <a:pPr algn="ct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vi-VN" sz="2400" b="1" i="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Trung Tâm Và Cơ Quan Có Thẩm Quyền</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24340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893100"/>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Trung tâm và Cơ quan có thẩm quyền</a:t>
            </a:r>
            <a:r>
              <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a:t>
            </a:r>
          </a:p>
          <a:p>
            <a:pPr algn="just"/>
            <a:endParaRPr lang="vi-VN"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Trong khi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x</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ếp hạng trang cung cấp cái nhìn một chiều về tầm quan trọng của các trang, một thuật toán gọi là HITS cố gắng đo lường hai khía cạnh khác nhau của mức độ quan trọng.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Cơ quan chức năng là những trang chứa</a:t>
            </a:r>
            <a:r>
              <a:rPr lang="en-US" dirty="0">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thông tin có giá trị.</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Trung tâm là các trang, mặc dù bản thân chúng không chứa thông tin, nhưng lại liên kết đến những nơi thông tin có thể được tìm thấy.</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74116115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1">
                                            <p:txEl>
                                              <p:pRg st="0" end="0"/>
                                            </p:txEl>
                                          </p:spTgt>
                                        </p:tgtEl>
                                        <p:attrNameLst>
                                          <p:attrName>style.color</p:attrName>
                                        </p:attrNameLst>
                                      </p:cBhvr>
                                      <p:to>
                                        <p:clrVal>
                                          <a:schemeClr val="accent2"/>
                                        </p:clrVal>
                                      </p:to>
                                    </p:set>
                                    <p:set>
                                      <p:cBhvr>
                                        <p:cTn id="7" dur="500" fill="hold"/>
                                        <p:tgtEl>
                                          <p:spTgt spid="11">
                                            <p:txEl>
                                              <p:pRg st="0" end="0"/>
                                            </p:txEl>
                                          </p:spTgt>
                                        </p:tgtEl>
                                        <p:attrNameLst>
                                          <p:attrName>fillcolor</p:attrName>
                                        </p:attrNameLst>
                                      </p:cBhvr>
                                      <p:to>
                                        <p:clrVal>
                                          <a:schemeClr val="accent2"/>
                                        </p:clrVal>
                                      </p:to>
                                    </p:set>
                                    <p:set>
                                      <p:cBhvr>
                                        <p:cTn id="8" dur="500" fill="hold"/>
                                        <p:tgtEl>
                                          <p:spTgt spid="11">
                                            <p:txEl>
                                              <p:pRg st="0" end="0"/>
                                            </p:txEl>
                                          </p:spTgt>
                                        </p:tgtEl>
                                        <p:attrNameLst>
                                          <p:attrName>fill.type</p:attrName>
                                        </p:attrNameLst>
                                      </p:cBhvr>
                                      <p:to>
                                        <p:strVal val="solid"/>
                                      </p:to>
                                    </p:set>
                                  </p:childTnLst>
                                </p:cTn>
                              </p:par>
                              <p:par>
                                <p:cTn id="9" presetID="16" presetClass="emph" presetSubtype="0" fill="hold" nodeType="withEffect">
                                  <p:stCondLst>
                                    <p:cond delay="0"/>
                                  </p:stCondLst>
                                  <p:iterate type="lt">
                                    <p:tmPct val="4000"/>
                                  </p:iterate>
                                  <p:childTnLst>
                                    <p:set>
                                      <p:cBhvr override="childStyle">
                                        <p:cTn id="10" dur="500" fill="hold"/>
                                        <p:tgtEl>
                                          <p:spTgt spid="11">
                                            <p:txEl>
                                              <p:pRg st="1" end="1"/>
                                            </p:txEl>
                                          </p:spTgt>
                                        </p:tgtEl>
                                        <p:attrNameLst>
                                          <p:attrName>style.color</p:attrName>
                                        </p:attrNameLst>
                                      </p:cBhvr>
                                      <p:to>
                                        <p:clrVal>
                                          <a:schemeClr val="accent2"/>
                                        </p:clrVal>
                                      </p:to>
                                    </p:set>
                                    <p:set>
                                      <p:cBhvr>
                                        <p:cTn id="11" dur="500" fill="hold"/>
                                        <p:tgtEl>
                                          <p:spTgt spid="11">
                                            <p:txEl>
                                              <p:pRg st="1" end="1"/>
                                            </p:txEl>
                                          </p:spTgt>
                                        </p:tgtEl>
                                        <p:attrNameLst>
                                          <p:attrName>fillcolor</p:attrName>
                                        </p:attrNameLst>
                                      </p:cBhvr>
                                      <p:to>
                                        <p:clrVal>
                                          <a:schemeClr val="accent2"/>
                                        </p:clrVal>
                                      </p:to>
                                    </p:set>
                                    <p:set>
                                      <p:cBhvr>
                                        <p:cTn id="12" dur="500" fill="hold"/>
                                        <p:tgtEl>
                                          <p:spTgt spid="11">
                                            <p:txEl>
                                              <p:pRg st="1" end="1"/>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3"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
                                        <p:tgtEl>
                                          <p:spTgt spid="3">
                                            <p:txEl>
                                              <p:pRg st="3" end="3"/>
                                            </p:txEl>
                                          </p:spTgt>
                                        </p:tgtEl>
                                      </p:cBhvr>
                                    </p:animEffect>
                                    <p:anim calcmode="lin" valueType="num">
                                      <p:cBhvr>
                                        <p:cTn id="25" dur="4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400" fill="hold"/>
                                        <p:tgtEl>
                                          <p:spTgt spid="3">
                                            <p:txEl>
                                              <p:pRg st="3" end="3"/>
                                            </p:txEl>
                                          </p:spTgt>
                                        </p:tgtEl>
                                        <p:attrNameLst>
                                          <p:attrName>ppt_y</p:attrName>
                                        </p:attrNameLst>
                                      </p:cBhvr>
                                      <p:tavLst>
                                        <p:tav tm="0">
                                          <p:val>
                                            <p:strVal val="#ppt_y+0.31"/>
                                          </p:val>
                                        </p:tav>
                                        <p:tav tm="100000">
                                          <p:val>
                                            <p:strVal val="#ppt_y+0.31"/>
                                          </p:val>
                                        </p:tav>
                                      </p:tavLst>
                                    </p:anim>
                                    <p:anim calcmode="lin" valueType="num">
                                      <p:cBhvr>
                                        <p:cTn id="27" dur="600" decel="50000" fill="hold">
                                          <p:stCondLst>
                                            <p:cond delay="400"/>
                                          </p:stCondLst>
                                        </p:cTn>
                                        <p:tgtEl>
                                          <p:spTgt spid="3">
                                            <p:txEl>
                                              <p:pRg st="3" end="3"/>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8" dur="600" decel="50000" fill="hold">
                                          <p:stCondLst>
                                            <p:cond delay="400"/>
                                          </p:stCondLst>
                                        </p:cTn>
                                        <p:tgtEl>
                                          <p:spTgt spid="3">
                                            <p:txEl>
                                              <p:pRg st="3" end="3"/>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3"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
                                        <p:tgtEl>
                                          <p:spTgt spid="3">
                                            <p:txEl>
                                              <p:pRg st="5" end="5"/>
                                            </p:txEl>
                                          </p:spTgt>
                                        </p:tgtEl>
                                      </p:cBhvr>
                                    </p:animEffect>
                                    <p:anim calcmode="lin" valueType="num">
                                      <p:cBhvr>
                                        <p:cTn id="34" dur="4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400" fill="hold"/>
                                        <p:tgtEl>
                                          <p:spTgt spid="3">
                                            <p:txEl>
                                              <p:pRg st="5" end="5"/>
                                            </p:txEl>
                                          </p:spTgt>
                                        </p:tgtEl>
                                        <p:attrNameLst>
                                          <p:attrName>ppt_y</p:attrName>
                                        </p:attrNameLst>
                                      </p:cBhvr>
                                      <p:tavLst>
                                        <p:tav tm="0">
                                          <p:val>
                                            <p:strVal val="#ppt_y+0.31"/>
                                          </p:val>
                                        </p:tav>
                                        <p:tav tm="100000">
                                          <p:val>
                                            <p:strVal val="#ppt_y+0.31"/>
                                          </p:val>
                                        </p:tav>
                                      </p:tavLst>
                                    </p:anim>
                                    <p:anim calcmode="lin" valueType="num">
                                      <p:cBhvr>
                                        <p:cTn id="36" dur="600" decel="50000" fill="hold">
                                          <p:stCondLst>
                                            <p:cond delay="400"/>
                                          </p:stCondLst>
                                        </p:cTn>
                                        <p:tgtEl>
                                          <p:spTgt spid="3">
                                            <p:txEl>
                                              <p:pRg st="5" end="5"/>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7" dur="600" decel="50000" fill="hold">
                                          <p:stCondLst>
                                            <p:cond delay="400"/>
                                          </p:stCondLst>
                                        </p:cTn>
                                        <p:tgtEl>
                                          <p:spTgt spid="3">
                                            <p:txEl>
                                              <p:pRg st="5" end="5"/>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3"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
                                        <p:tgtEl>
                                          <p:spTgt spid="3">
                                            <p:txEl>
                                              <p:pRg st="7" end="7"/>
                                            </p:txEl>
                                          </p:spTgt>
                                        </p:tgtEl>
                                      </p:cBhvr>
                                    </p:animEffect>
                                    <p:anim calcmode="lin" valueType="num">
                                      <p:cBhvr>
                                        <p:cTn id="43" dur="4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400" fill="hold"/>
                                        <p:tgtEl>
                                          <p:spTgt spid="3">
                                            <p:txEl>
                                              <p:pRg st="7" end="7"/>
                                            </p:txEl>
                                          </p:spTgt>
                                        </p:tgtEl>
                                        <p:attrNameLst>
                                          <p:attrName>ppt_y</p:attrName>
                                        </p:attrNameLst>
                                      </p:cBhvr>
                                      <p:tavLst>
                                        <p:tav tm="0">
                                          <p:val>
                                            <p:strVal val="#ppt_y+0.31"/>
                                          </p:val>
                                        </p:tav>
                                        <p:tav tm="100000">
                                          <p:val>
                                            <p:strVal val="#ppt_y+0.31"/>
                                          </p:val>
                                        </p:tav>
                                      </p:tavLst>
                                    </p:anim>
                                    <p:anim calcmode="lin" valueType="num">
                                      <p:cBhvr>
                                        <p:cTn id="45" dur="600" decel="50000" fill="hold">
                                          <p:stCondLst>
                                            <p:cond delay="400"/>
                                          </p:stCondLst>
                                        </p:cTn>
                                        <p:tgtEl>
                                          <p:spTgt spid="3">
                                            <p:txEl>
                                              <p:pRg st="7" end="7"/>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6" dur="600" decel="50000" fill="hold">
                                          <p:stCondLst>
                                            <p:cond delay="400"/>
                                          </p:stCondLst>
                                        </p:cTn>
                                        <p:tgtEl>
                                          <p:spTgt spid="3">
                                            <p:txEl>
                                              <p:pRg st="7" end="7"/>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756073" y="522898"/>
            <a:ext cx="34359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5.5. Hubs and Authorities</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4359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228600" y="1118433"/>
            <a:ext cx="11180618" cy="2893100"/>
          </a:xfrm>
          <a:prstGeom prst="rect">
            <a:avLst/>
          </a:prstGeom>
          <a:noFill/>
        </p:spPr>
        <p:txBody>
          <a:bodyPr wrap="square" rtlCol="0">
            <a:spAutoFit/>
          </a:bodyPr>
          <a:lstStyle/>
          <a:p>
            <a:pPr algn="just"/>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vi-VN"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rPr>
              <a:t>Công thức đệ quy của thuật toán HITS: </a:t>
            </a:r>
            <a:endParaRPr lang="en-US" sz="2000"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vi-VN" b="1" dirty="0">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Tính điểm của các trung tâm và cơ quan cho các trang phụ thuộc vào việc giải các hàm đệ quy: </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một trung tâm liên kết với nhiều cơ quan và một cơ quan được liên kết với nhiều trung tâm</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Giải pháp cho những phương trình này về cơ bản là một phép nhân ma trận-vectơ nhỏ, giống như của PageRank. </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algn="just"/>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285750" indent="-285750" algn="just">
              <a:buFont typeface="Wingdings" panose="05000000000000000000" pitchFamily="2" charset="2"/>
              <a:buChar char="§"/>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Tuy nhiên, sự tồn tại của các ngõ cụt hoặc bẫy nhện không ảnh hưởng đến giải pháp cho</a:t>
            </a:r>
            <a:r>
              <a:rPr lang="en-US" dirty="0">
                <a:effectLst/>
                <a:latin typeface="Times New Roman" panose="02020603050405020304" pitchFamily="18" charset="0"/>
                <a:ea typeface="Courier New" panose="02070309020205020404" pitchFamily="49" charset="0"/>
                <a:cs typeface="Times New Roman" panose="02020603050405020304" pitchFamily="18" charset="0"/>
              </a:rPr>
              <a:t> </a:t>
            </a:r>
            <a:r>
              <a:rPr lang="en-US" dirty="0">
                <a:latin typeface="Times New Roman" panose="02020603050405020304" pitchFamily="18" charset="0"/>
                <a:ea typeface="Courier New" panose="02070309020205020404" pitchFamily="49" charset="0"/>
                <a:cs typeface="Times New Roman" panose="02020603050405020304" pitchFamily="18" charset="0"/>
              </a:rPr>
              <a:t>c</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ác phương trình HITS theo cách chúng thực hiện đối với Xếp hạng trang, vì vậy không cần kế hoạch đánh thuế.</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21218440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8"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arn(inVertical)">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wipe(down)">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756073" y="522898"/>
            <a:ext cx="34359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5.6. Reference Document</a:t>
            </a:r>
          </a:p>
          <a:p>
            <a:pPr algn="ct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Tài</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Liệu</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Tham</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i="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Khảo</a:t>
            </a: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4359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0E0AC677-8F16-48C3-9192-ADE653107977}"/>
              </a:ext>
            </a:extLst>
          </p:cNvPr>
          <p:cNvSpPr txBox="1"/>
          <p:nvPr/>
        </p:nvSpPr>
        <p:spPr>
          <a:xfrm>
            <a:off x="112584" y="1772082"/>
            <a:ext cx="11180618" cy="2864630"/>
          </a:xfrm>
          <a:prstGeom prst="rect">
            <a:avLst/>
          </a:prstGeom>
          <a:noFill/>
        </p:spPr>
        <p:txBody>
          <a:bodyPr wrap="square" rtlCol="0">
            <a:spAutoFit/>
          </a:bodyPr>
          <a:lstStyle/>
          <a:p>
            <a:pPr marL="1076960" marR="1261745" indent="-285750" algn="just">
              <a:lnSpc>
                <a:spcPct val="161000"/>
              </a:lnSpc>
              <a:spcBef>
                <a:spcPts val="645"/>
              </a:spcBef>
              <a:spcAft>
                <a:spcPts val="0"/>
              </a:spcAft>
              <a:buFont typeface="Wingdings" panose="05000000000000000000" pitchFamily="2" charset="2"/>
              <a:buChar char="q"/>
            </a:pP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Thuật toán Xếp hạng trang lần đầu tiên được thể hiện trong [1]. Các thí nghiệm về cấu trúc</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của</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Web,</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mà</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chúng</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tôi</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sử</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dụng</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để</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biện</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minh</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cho</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sự</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tồn</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tại</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của</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ngõ</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cụt</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và</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bẫy</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nhện, đã</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được</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mô</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tả</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trong</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[2].</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Phương</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thức</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dải</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khối</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để</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thực</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hiện</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lặp</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lại</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Xếp</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hạng</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trang</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được lấy từ</a:t>
            </a:r>
            <a:r>
              <a:rPr lang="vi-VN" sz="1800"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[5].</a:t>
            </a:r>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1076960" marR="1261745" indent="-285750" algn="just">
              <a:lnSpc>
                <a:spcPct val="161000"/>
              </a:lnSpc>
              <a:spcBef>
                <a:spcPts val="645"/>
              </a:spcBef>
              <a:spcAft>
                <a:spcPts val="0"/>
              </a:spcAft>
              <a:buFont typeface="Wingdings" panose="05000000000000000000" pitchFamily="2" charset="2"/>
              <a:buChar char="§"/>
            </a:pP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Xếp</a:t>
            </a:r>
            <a:r>
              <a:rPr lang="vi-VN" sz="1800" spc="-3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hạng</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trang</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nhạy</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cảm</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với</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chủ</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đề</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được</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lấy</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từ</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[6].</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TrustRank</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được</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mô</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tả</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trong</a:t>
            </a:r>
            <a:r>
              <a:rPr lang="vi-VN" sz="1800"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[4], và ý tưởng về khối lượng thư rác được lấy từ</a:t>
            </a:r>
            <a:r>
              <a:rPr lang="vi-VN" sz="1800" spc="-15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[3].</a:t>
            </a:r>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1076960" marR="1261745" indent="-285750" algn="just">
              <a:lnSpc>
                <a:spcPct val="161000"/>
              </a:lnSpc>
              <a:spcBef>
                <a:spcPts val="645"/>
              </a:spcBef>
              <a:spcAft>
                <a:spcPts val="0"/>
              </a:spcAft>
              <a:buFont typeface="Wingdings" panose="05000000000000000000" pitchFamily="2" charset="2"/>
              <a:buChar char="§"/>
            </a:pPr>
            <a:r>
              <a:rPr lang="vi-VN" sz="1800" dirty="0">
                <a:effectLst/>
                <a:latin typeface="Times New Roman" panose="02020603050405020304" pitchFamily="18" charset="0"/>
                <a:ea typeface="Courier New" panose="02070309020205020404" pitchFamily="49" charset="0"/>
                <a:cs typeface="Times New Roman" panose="02020603050405020304" pitchFamily="18" charset="0"/>
              </a:rPr>
              <a:t>Ý tưởng HITS (trung tâm và chính quyền) được mô tả trong [7].</a:t>
            </a:r>
            <a:endParaRPr lang="en-US" sz="1800"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412393251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1">
                                            <p:txEl>
                                              <p:pRg st="0" end="0"/>
                                            </p:txEl>
                                          </p:spTgt>
                                        </p:tgtEl>
                                        <p:attrNameLst>
                                          <p:attrName>style.color</p:attrName>
                                        </p:attrNameLst>
                                      </p:cBhvr>
                                      <p:to>
                                        <p:clrVal>
                                          <a:schemeClr val="accent2"/>
                                        </p:clrVal>
                                      </p:to>
                                    </p:set>
                                    <p:set>
                                      <p:cBhvr>
                                        <p:cTn id="7" dur="500" fill="hold"/>
                                        <p:tgtEl>
                                          <p:spTgt spid="11">
                                            <p:txEl>
                                              <p:pRg st="0" end="0"/>
                                            </p:txEl>
                                          </p:spTgt>
                                        </p:tgtEl>
                                        <p:attrNameLst>
                                          <p:attrName>fillcolor</p:attrName>
                                        </p:attrNameLst>
                                      </p:cBhvr>
                                      <p:to>
                                        <p:clrVal>
                                          <a:schemeClr val="accent2"/>
                                        </p:clrVal>
                                      </p:to>
                                    </p:set>
                                    <p:set>
                                      <p:cBhvr>
                                        <p:cTn id="8" dur="500" fill="hold"/>
                                        <p:tgtEl>
                                          <p:spTgt spid="11">
                                            <p:txEl>
                                              <p:pRg st="0" end="0"/>
                                            </p:txEl>
                                          </p:spTgt>
                                        </p:tgtEl>
                                        <p:attrNameLst>
                                          <p:attrName>fill.type</p:attrName>
                                        </p:attrNameLst>
                                      </p:cBhvr>
                                      <p:to>
                                        <p:strVal val="solid"/>
                                      </p:to>
                                    </p:set>
                                  </p:childTnLst>
                                </p:cTn>
                              </p:par>
                              <p:par>
                                <p:cTn id="9" presetID="16" presetClass="emph" presetSubtype="0" fill="hold" nodeType="withEffect">
                                  <p:stCondLst>
                                    <p:cond delay="0"/>
                                  </p:stCondLst>
                                  <p:iterate type="lt">
                                    <p:tmPct val="4000"/>
                                  </p:iterate>
                                  <p:childTnLst>
                                    <p:set>
                                      <p:cBhvr override="childStyle">
                                        <p:cTn id="10" dur="500" fill="hold"/>
                                        <p:tgtEl>
                                          <p:spTgt spid="11">
                                            <p:txEl>
                                              <p:pRg st="1" end="1"/>
                                            </p:txEl>
                                          </p:spTgt>
                                        </p:tgtEl>
                                        <p:attrNameLst>
                                          <p:attrName>style.color</p:attrName>
                                        </p:attrNameLst>
                                      </p:cBhvr>
                                      <p:to>
                                        <p:clrVal>
                                          <a:schemeClr val="accent2"/>
                                        </p:clrVal>
                                      </p:to>
                                    </p:set>
                                    <p:set>
                                      <p:cBhvr>
                                        <p:cTn id="11" dur="500" fill="hold"/>
                                        <p:tgtEl>
                                          <p:spTgt spid="11">
                                            <p:txEl>
                                              <p:pRg st="1" end="1"/>
                                            </p:txEl>
                                          </p:spTgt>
                                        </p:tgtEl>
                                        <p:attrNameLst>
                                          <p:attrName>fillcolor</p:attrName>
                                        </p:attrNameLst>
                                      </p:cBhvr>
                                      <p:to>
                                        <p:clrVal>
                                          <a:schemeClr val="accent2"/>
                                        </p:clrVal>
                                      </p:to>
                                    </p:set>
                                    <p:set>
                                      <p:cBhvr>
                                        <p:cTn id="12" dur="500" fill="hold"/>
                                        <p:tgtEl>
                                          <p:spTgt spid="11">
                                            <p:txEl>
                                              <p:pRg st="1" end="1"/>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756073" y="522898"/>
            <a:ext cx="34359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5.6. Reference Document</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4359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 name="TextBox 3">
            <a:extLst>
              <a:ext uri="{FF2B5EF4-FFF2-40B4-BE49-F238E27FC236}">
                <a16:creationId xmlns:a16="http://schemas.microsoft.com/office/drawing/2014/main" id="{BBCF0F43-09F9-4233-B0F1-8DD3F0486A6F}"/>
              </a:ext>
            </a:extLst>
          </p:cNvPr>
          <p:cNvSpPr txBox="1"/>
          <p:nvPr/>
        </p:nvSpPr>
        <p:spPr>
          <a:xfrm>
            <a:off x="609600" y="1953491"/>
            <a:ext cx="10834255" cy="3416320"/>
          </a:xfrm>
          <a:prstGeom prst="rect">
            <a:avLst/>
          </a:prstGeom>
          <a:noFill/>
        </p:spPr>
        <p:txBody>
          <a:bodyPr wrap="square" rtlCol="0">
            <a:spAutoFit/>
          </a:bodyPr>
          <a:lstStyle/>
          <a:p>
            <a:pPr marL="342900" indent="-342900">
              <a:buFont typeface="+mj-lt"/>
              <a:buAutoNum type="arabicPeriod"/>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S.</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Brin</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và</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Trang,</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“Giải</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phẫu</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công</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cụ</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tìm</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kiếm</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web</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siêu</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văn</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bản</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quy</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mô</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lớn,” Proc. Quốc tế thứ 7 Hội nghị Web toàn cầu, trang 107–117,</a:t>
            </a:r>
            <a:r>
              <a:rPr lang="vi-VN" spc="-27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1998.</a:t>
            </a:r>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pPr marL="342900" indent="-342900">
              <a:buFont typeface="+mj-lt"/>
              <a:buAutoNum type="arabicPeriod"/>
            </a:pP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342900" indent="-342900">
              <a:buFont typeface="+mj-lt"/>
              <a:buAutoNum type="arabicPeriod"/>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A. Broder, R. Kumar, F. Maghoul, P. Raghavan, S. Rajagopalan,</a:t>
            </a:r>
            <a:r>
              <a:rPr lang="vi-VN" spc="-15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R.Stata, A. Tomkins và J. Weiner, “Cấu trúc đồ thị trong web,” Com puter Networks 33: 1–6, trang 309–320, 2000.</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342900" indent="-342900">
              <a:buFont typeface="+mj-lt"/>
              <a:buAutoNum type="arabicPeriod"/>
            </a:pP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342900" indent="-342900">
              <a:buFont typeface="+mj-lt"/>
              <a:buAutoNum type="arabicPeriod"/>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Z.</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Gy¨ongi,</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P.</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Berkhin,</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H.</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Garcia-Molina</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và</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J.</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Pedersen,</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“Phát</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hiện</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spam</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liên</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kết dựa trên ước tính khối lượng,” Proc. Quốc tế thứ 32 Lời thú nhận. trên Cơ sở dữ liệu Rất lớn, trang 439–450,</a:t>
            </a:r>
            <a:r>
              <a:rPr lang="vi-VN" spc="-7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2006.</a:t>
            </a: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342900" indent="-342900">
              <a:buFont typeface="+mj-lt"/>
              <a:buAutoNum type="arabicPeriod"/>
            </a:pPr>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a:p>
            <a:pPr marL="342900" indent="-342900">
              <a:buFont typeface="+mj-lt"/>
              <a:buAutoNum type="arabicPeriod"/>
            </a:pPr>
            <a:r>
              <a:rPr lang="vi-VN" dirty="0">
                <a:effectLst/>
                <a:latin typeface="Times New Roman" panose="02020603050405020304" pitchFamily="18" charset="0"/>
                <a:ea typeface="Courier New" panose="02070309020205020404" pitchFamily="49" charset="0"/>
                <a:cs typeface="Times New Roman" panose="02020603050405020304" pitchFamily="18" charset="0"/>
              </a:rPr>
              <a:t>Z.</a:t>
            </a:r>
            <a:r>
              <a:rPr lang="vi-VN" spc="-5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Gy¨ongi,</a:t>
            </a:r>
            <a:r>
              <a:rPr lang="vi-VN" spc="-5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H.</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Garcia-Molina</a:t>
            </a:r>
            <a:r>
              <a:rPr lang="vi-VN" spc="-5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và</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J.</a:t>
            </a:r>
            <a:r>
              <a:rPr lang="vi-VN" spc="-5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Pedersen,</a:t>
            </a:r>
            <a:r>
              <a:rPr lang="vi-VN" spc="-5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“Chống</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spam</a:t>
            </a:r>
            <a:r>
              <a:rPr lang="vi-VN" spc="-5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liên</a:t>
            </a:r>
            <a:r>
              <a:rPr lang="vi-VN" spc="-4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kết</a:t>
            </a:r>
            <a:r>
              <a:rPr lang="vi-VN" spc="-5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với</a:t>
            </a:r>
            <a:r>
              <a:rPr lang="vi-VN" spc="-5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trustrank,” Proc.</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Quốc</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tế</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30</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Lời</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thú</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nhận.</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trên</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Cơ</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sở</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dữ</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liệu</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Rất</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lớn,</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trang</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576–</a:t>
            </a:r>
            <a:r>
              <a:rPr lang="vi-VN" spc="-25"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587,</a:t>
            </a:r>
            <a:r>
              <a:rPr lang="vi-VN" spc="-30" dirty="0">
                <a:effectLst/>
                <a:latin typeface="Times New Roman" panose="02020603050405020304" pitchFamily="18" charset="0"/>
                <a:ea typeface="Courier New" panose="02070309020205020404" pitchFamily="49" charset="0"/>
                <a:cs typeface="Times New Roman" panose="02020603050405020304" pitchFamily="18" charset="0"/>
              </a:rPr>
              <a:t> </a:t>
            </a:r>
            <a:r>
              <a:rPr lang="vi-VN" dirty="0">
                <a:effectLst/>
                <a:latin typeface="Times New Roman" panose="02020603050405020304" pitchFamily="18" charset="0"/>
                <a:ea typeface="Courier New" panose="02070309020205020404" pitchFamily="49" charset="0"/>
                <a:cs typeface="Times New Roman" panose="02020603050405020304" pitchFamily="18" charset="0"/>
              </a:rPr>
              <a:t>2004.</a:t>
            </a:r>
            <a:endParaRPr lang="en-US" dirty="0">
              <a:latin typeface="Times New Roman" panose="02020603050405020304" pitchFamily="18" charset="0"/>
              <a:ea typeface="Courier New" panose="02070309020205020404" pitchFamily="49" charset="0"/>
              <a:cs typeface="Times New Roman" panose="02020603050405020304" pitchFamily="18" charset="0"/>
            </a:endParaRPr>
          </a:p>
          <a:p>
            <a:endParaRPr lang="en-US" dirty="0">
              <a:effectLst/>
              <a:latin typeface="Times New Roman" panose="02020603050405020304" pitchFamily="18" charset="0"/>
              <a:ea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3743490756"/>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anim calcmode="lin" valueType="num">
                                      <p:cBhvr>
                                        <p:cTn id="1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1000"/>
                                        <p:tgtEl>
                                          <p:spTgt spid="4">
                                            <p:txEl>
                                              <p:pRg st="6" end="6"/>
                                            </p:txEl>
                                          </p:spTgt>
                                        </p:tgtEl>
                                      </p:cBhvr>
                                    </p:animEffect>
                                    <p:anim calcmode="lin" valueType="num">
                                      <p:cBhvr>
                                        <p:cTn id="2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756073" y="522898"/>
            <a:ext cx="34359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4431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5.6. Reference Document</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4359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 name="TextBox 3">
            <a:extLst>
              <a:ext uri="{FF2B5EF4-FFF2-40B4-BE49-F238E27FC236}">
                <a16:creationId xmlns:a16="http://schemas.microsoft.com/office/drawing/2014/main" id="{BBCF0F43-09F9-4233-B0F1-8DD3F0486A6F}"/>
              </a:ext>
            </a:extLst>
          </p:cNvPr>
          <p:cNvSpPr txBox="1"/>
          <p:nvPr/>
        </p:nvSpPr>
        <p:spPr>
          <a:xfrm>
            <a:off x="609600" y="1953491"/>
            <a:ext cx="10834255" cy="2816156"/>
          </a:xfrm>
          <a:prstGeom prst="rect">
            <a:avLst/>
          </a:prstGeom>
          <a:noFill/>
        </p:spPr>
        <p:txBody>
          <a:bodyPr wrap="square" rtlCol="0">
            <a:spAutoFit/>
          </a:bodyPr>
          <a:lstStyle/>
          <a:p>
            <a:pPr marR="0" lvl="0">
              <a:spcBef>
                <a:spcPts val="645"/>
              </a:spcBef>
              <a:spcAft>
                <a:spcPts val="0"/>
              </a:spcAft>
              <a:buSzPts val="650"/>
              <a:tabLst>
                <a:tab pos="1094740" algn="l"/>
              </a:tabLst>
            </a:pPr>
            <a:r>
              <a:rPr lang="en-US" dirty="0">
                <a:latin typeface="Times New Roman" panose="02020603050405020304" pitchFamily="18" charset="0"/>
                <a:cs typeface="Times New Roman" panose="02020603050405020304" pitchFamily="18" charset="0"/>
              </a:rPr>
              <a:t>5. </a:t>
            </a:r>
            <a:r>
              <a:rPr lang="vi-VN" dirty="0">
                <a:latin typeface="Times New Roman" panose="02020603050405020304" pitchFamily="18" charset="0"/>
                <a:cs typeface="Times New Roman" panose="02020603050405020304" pitchFamily="18" charset="0"/>
              </a:rPr>
              <a:t>TH Haveliwala, “Tính toán hiệu quả của Xếp hạng trang”, Đại học Stanford.</a:t>
            </a:r>
            <a:endParaRPr lang="en-US" dirty="0">
              <a:latin typeface="Times New Roman" panose="02020603050405020304" pitchFamily="18" charset="0"/>
              <a:cs typeface="Times New Roman" panose="02020603050405020304" pitchFamily="18" charset="0"/>
            </a:endParaRPr>
          </a:p>
          <a:p>
            <a:pPr marR="0" lvl="0">
              <a:spcBef>
                <a:spcPts val="645"/>
              </a:spcBef>
              <a:spcAft>
                <a:spcPts val="0"/>
              </a:spcAft>
              <a:buSzPts val="650"/>
              <a:tabLst>
                <a:tab pos="1094740" algn="l"/>
              </a:tabLst>
            </a:pPr>
            <a:endParaRPr lang="en-US"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Báo cáo kỹ thuật của Khoa Khoa học Máy tính, tháng 9 năm 1999. Có sẵn dưới dạng</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1158875" marR="0">
              <a:spcBef>
                <a:spcPts val="645"/>
              </a:spcBef>
              <a:spcAft>
                <a:spcPts val="0"/>
              </a:spcAft>
            </a:pPr>
            <a:r>
              <a:rPr lang="vi-VN" dirty="0">
                <a:solidFill>
                  <a:srgbClr val="FF000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http://infolab.stanford.edu/~taherh/papers/eosystem-pr.pdf</a:t>
            </a:r>
            <a:endParaRPr lang="en-US" dirty="0">
              <a:solidFill>
                <a:srgbClr val="FF0000"/>
              </a:solidFill>
              <a:latin typeface="Times New Roman" panose="02020603050405020304" pitchFamily="18" charset="0"/>
              <a:cs typeface="Times New Roman" panose="02020603050405020304" pitchFamily="18" charset="0"/>
            </a:endParaRPr>
          </a:p>
          <a:p>
            <a:pPr marL="1158875" marR="0">
              <a:spcBef>
                <a:spcPts val="645"/>
              </a:spcBef>
              <a:spcAft>
                <a:spcPts val="0"/>
              </a:spcAft>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6. </a:t>
            </a:r>
            <a:r>
              <a:rPr lang="vi-VN" dirty="0">
                <a:latin typeface="Times New Roman" panose="02020603050405020304" pitchFamily="18" charset="0"/>
                <a:cs typeface="Times New Roman" panose="02020603050405020304" pitchFamily="18" charset="0"/>
              </a:rPr>
              <a:t>TH Haveliwala, “Xếp hạng trang theo chủ đề”, Proc. 11 Intl. Thế giới Hội nghị Web rộng, trang 517–526, 2002</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7. </a:t>
            </a:r>
            <a:r>
              <a:rPr lang="vi-VN" dirty="0">
                <a:latin typeface="Times New Roman" panose="02020603050405020304" pitchFamily="18" charset="0"/>
                <a:cs typeface="Times New Roman" panose="02020603050405020304" pitchFamily="18" charset="0"/>
              </a:rPr>
              <a:t>JM Kleinberg, “Các nguồn có thẩm quyền trong môi trường siêu liên kết,” J. ACM 46: 5, tr. 604–632, 1999.</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4409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anim calcmode="lin" valueType="num">
                                      <p:cBhvr>
                                        <p:cTn id="1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1000"/>
                                        <p:tgtEl>
                                          <p:spTgt spid="4">
                                            <p:txEl>
                                              <p:pRg st="6" end="6"/>
                                            </p:txEl>
                                          </p:spTgt>
                                        </p:tgtEl>
                                      </p:cBhvr>
                                    </p:animEffect>
                                    <p:anim calcmode="lin" valueType="num">
                                      <p:cBhvr>
                                        <p:cTn id="2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1000"/>
                                        <p:tgtEl>
                                          <p:spTgt spid="4">
                                            <p:txEl>
                                              <p:pRg st="8" end="8"/>
                                            </p:txEl>
                                          </p:spTgt>
                                        </p:tgtEl>
                                      </p:cBhvr>
                                    </p:animEffect>
                                    <p:anim calcmode="lin" valueType="num">
                                      <p:cBhvr>
                                        <p:cTn id="2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289</TotalTime>
  <Words>4517</Words>
  <Application>Microsoft Office PowerPoint</Application>
  <PresentationFormat>Widescreen</PresentationFormat>
  <Paragraphs>426</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Century Gothic</vt:lpstr>
      <vt:lpstr>Courier New</vt:lpstr>
      <vt:lpstr>Segoe UI Light</vt:lpstr>
      <vt:lpstr>Times New Roman</vt:lpstr>
      <vt:lpstr>Wingdings</vt:lpstr>
      <vt:lpstr>Office Theme</vt:lpstr>
      <vt:lpstr>Link Analysis</vt:lpstr>
      <vt:lpstr>Project analysis slide 2</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Project analysis slide 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Analysis</dc:title>
  <dc:creator>Meo PI</dc:creator>
  <cp:lastModifiedBy>Meo PI</cp:lastModifiedBy>
  <cp:revision>34</cp:revision>
  <dcterms:created xsi:type="dcterms:W3CDTF">2022-04-06T07:34:41Z</dcterms:created>
  <dcterms:modified xsi:type="dcterms:W3CDTF">2022-04-07T03:49:07Z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